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oppins" charset="1" panose="00000500000000000000"/>
      <p:regular r:id="rId23"/>
    </p:embeddedFont>
    <p:embeddedFont>
      <p:font typeface="DM Sans" charset="1" panose="00000000000000000000"/>
      <p:regular r:id="rId24"/>
    </p:embeddedFont>
    <p:embeddedFont>
      <p:font typeface="1883 Sans Bold" charset="1" panose="00000000000000000000"/>
      <p:regular r:id="rId25"/>
    </p:embeddedFont>
    <p:embeddedFont>
      <p:font typeface="1883 Sans" charset="1" panose="00000000000000000000"/>
      <p:regular r:id="rId27"/>
    </p:embeddedFont>
    <p:embeddedFont>
      <p:font typeface="Poppins Medium" charset="1" panose="00000600000000000000"/>
      <p:regular r:id="rId29"/>
    </p:embeddedFont>
    <p:embeddedFont>
      <p:font typeface="DM Sans Bold" charset="1" panose="00000000000000000000"/>
      <p:regular r:id="rId31"/>
    </p:embeddedFont>
    <p:embeddedFont>
      <p:font typeface="Poppins Bold" charset="1" panose="000008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fonts/font27.fntdata" Type="http://schemas.openxmlformats.org/officeDocument/2006/relationships/font"/><Relationship Id="rId28" Target="notesSlides/notesSlide3.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4.xml" Type="http://schemas.openxmlformats.org/officeDocument/2006/relationships/notesSlide"/><Relationship Id="rId31" Target="fonts/font31.fntdata" Type="http://schemas.openxmlformats.org/officeDocument/2006/relationships/font"/><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I'll walk you through a hybrid forecasting model built to predict COVID-19 hospitalization surges in Dallas County, Texas.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core problem this project addresses is one of timing and visibility. Hospital systems are designed for predictable, steady demand — COVID shattered that assumption repeatedly. By the time surge signals were obvious in the data, it was often too late to staff up, source PPE, or activate overflow protocols. Our goal was to build a model that gives decision-makers 1 to 4 weeks of lead time, with honest uncertainty bounds so they can plan proportionally to risk rather than reacting to confirmed crises.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pulled from three main sources. The backbone is the HHS Protect dataset, which reports weekly hospitalization averages at the hospital level — I aggregated these up to the county level. Vaccination rates came from a CDC API by FIPS code, and case counts from a Texas state-level CDC feed. A critical preprocessing step was date normalization before merging, since the three sources used different timestamp formats. I also forward-filled vaccination rates across weeks where data was sparse, and we used the county's 75th percentile of recent hospitalizations as a proxy for operational bed capacity.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Think of the architecture as a two-layer system. The first layer is a physics-based model — SEIR — that encodes what we know about how diseases spread. It gives us a structurally sensible baseline. But SEIR alone doesn't capture everything: local reporting lags, behavioral changes, or policy effects leave systematic residuals. The second layer — a linear regression — learns those residuals from historical data and corrects the SEIR output. This hybrid approach outperforms either model alone, which we'll see in the evaluation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of the assignment's key questions is how we estimate beta — the transmission rate — since it's not directly measured. The answer is calibration: we treat beta as an unknown and search for the value that minimizes prediction error on the training data. scipy's minimize_scalar does this efficiently. A related question the assignment raises is whether to use a hierarchical model across counties given population size differences. Here we model Dallas County in isolation, but a production system would absolutely want a hierarchical structure — pooling information across counties while allowing county-specific deviations. The vaccination adjustment is straightforward: a higher vax rate shrinks the effective susceptible pool, reducing transmission.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correction layer is deliberately simple — a linear regression. This is intentional. Complex correction models risk overfitting to pandemic-specific noise that won't recur. The lagged case count is a meaningful feature because COVID hospitalizations typically follow case counts by one to two weeks. The standard deviation of training residuals becomes our uncertainty estimate for the intervals. Scaling that uncertainty by the square root of the forecast horizon is a principled choice: uncertainty compounds as you project further out, and the square-root law captures that mathematically. We used an 80/20 train-test split, keeping at least 4 weeks in the holdout to evaluate the 4-week ahead horizon properly.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the top-left chart, we can see that the corrected model closely follows the historical hospitalization trends across multiple COVID waves. The model captures the major spikes in late 2020, mid-2021, and early 2022, while also matching the lower hospitalization levels seen after 2023.</a:t>
            </a:r>
          </a:p>
          <a:p>
            <a:r>
              <a:rPr lang="en-US"/>
              <a:t/>
            </a:r>
          </a:p>
          <a:p>
            <a:r>
              <a:rPr lang="en-US"/>
              <a:t>The top-right chart shows the 1–4 week forecast. Recent hospitalizations were trending downward and stayed below the capacity threshold of 35 beds. The forecast predicts hospitalizations remaining relatively stable in the low-to-mid 20s, with only a slight increase by week 4. The shaded area represents the prediction interval, which widens over time because uncertainty increases further into the future.</a:t>
            </a:r>
          </a:p>
          <a:p>
            <a:r>
              <a:rPr lang="en-US"/>
              <a:t/>
            </a:r>
          </a:p>
          <a:p>
            <a:r>
              <a:rPr lang="en-US"/>
              <a:t>The bottom-left chart compares model accuracy on the test set. The SEIR-only model had an MAE of about 28.6 beds, while the corrected model reduced MAE to about 5.5 beds. This shows that the correction layer substantially improved forecast accuracy by adjusting for patterns the SEIR model alone could not capture.</a:t>
            </a:r>
          </a:p>
          <a:p>
            <a:r>
              <a:rPr lang="en-US"/>
              <a:t/>
            </a:r>
          </a:p>
          <a:p>
            <a:r>
              <a:rPr lang="en-US"/>
              <a:t>The bottom-right chart shows capacity breach risk using a 35-bed threshold. The predicted risk stays below the 0.5 decision threshold for all four forecast weeks, suggesting that a capacity breach is unlikely during this forecast period.</a:t>
            </a:r>
          </a:p>
          <a:p>
            <a:r>
              <a:rPr lang="en-US"/>
              <a:t/>
            </a:r>
          </a:p>
          <a:p>
            <a:r>
              <a:rPr lang="en-US"/>
              <a:t>Overall, the corrected SEIR model performs much better than the baseline SEIR model and provides a more useful short-term forecast for hospital capacity planning.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surge detection analysis identified 25 surge events across the full Dallas County hospitalization time series from July 2020 through late 2023. A surge was defined as a greater than 50% increase in hospitalizations over any 3-week window — a threshold calibrated to capture clinically significant demand spikes rather than routine week-to-week variation.</a:t>
            </a:r>
          </a:p>
          <a:p>
            <a:r>
              <a:rPr lang="en-US"/>
              <a:t>Of the 25 confirmed surges, 23 were detectable in advance using a 15% weekly growth rate as an early warning signal, representing a 92% retrospective detection rate. The average lead time across those 23 detected surges was 1.3 weeks. Seven surges produced 2 or more weeks of early warning, representing the scenarios where the model would have given administrators the most time to act.</a:t>
            </a:r>
          </a:p>
          <a:p>
            <a:r>
              <a:rPr lang="en-US"/>
              <a:t>The two undetected surges are worth examining — these are cases where hospitalization counts escalated sharply without a detectable growth ramp in the preceding weeks, suggesting sudden behavioral or variant-driven inflection points that bypassed the gradual buildup pattern the signal threshold is designed to catch.</a:t>
            </a:r>
          </a:p>
          <a:p>
            <a:r>
              <a:rPr lang="en-US"/>
              <a:t>Looking across the full pandemic timeline, the 1–2 week lead time aligns with what we know about COVID hospitalization dynamics — case counts typically preceded hospitalizations by 7 to 14 days, and the growth rate signal is essentially capturing that same leading relationship directly in the hospitalization data itself. The fact that 92% of surges were flagged early, using only the hospitalization series with no external case data, validates that the signal is robust and that a simple growth rate threshold applied retrospectively would have provided actionable warning in the vast majority of surge events Dallas County experienced.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where the model becomes a decision support tool. Saying "65% chance hospitalizations exceed your ceiling next week" maps directly onto how administrators make decisions — they act on risk, not point estimates. The 75th percentile capacity proxy should ideally be replaced with actual licensed bed and staffing limits. Known limitation: because residual_std is fixed, P(breach) in W4 is slightly overconfident. Applying √(weeks ahead) scaling here too would be a straightforward production improvement.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β is fixed within each wave, so it may miss mid-wave transmission changes</a:t>
            </a:r>
          </a:p>
          <a:p>
            <a:r>
              <a:rPr lang="en-US"/>
              <a:t>Beta is calibrated once per wave period using historical data, so if transmission accelerates or drops mid-wave — due to a new subvariant, a policy change, or a behavioral shift — the model won't pick that up until the next wave boundary. In practice this means forecasts can lag reality during inflection points, which is exactly when accuracy matters most.</a:t>
            </a:r>
          </a:p>
          <a:p>
            <a:r>
              <a:rPr lang="en-US"/>
              <a:t/>
            </a:r>
          </a:p>
          <a:p>
            <a:r>
              <a:rPr lang="en-US"/>
              <a:t>Gradient boosting may overfit pandemic-specific patterns</a:t>
            </a:r>
          </a:p>
          <a:p>
            <a:r>
              <a:rPr lang="en-US"/>
              <a:t>The corrector is trained on residuals from a specific historical period with unique dynamics — lockdowns, vaccine rollouts, variant waves. Patterns it learned may not generalize to future surges that look structurally different. A simpler linear corrector would be more stable across novel regimes, and that's a real tradeoff worth acknowledging if this model were deployed in production.</a:t>
            </a:r>
          </a:p>
          <a:p>
            <a:r>
              <a:rPr lang="en-US"/>
              <a:t/>
            </a:r>
          </a:p>
          <a:p>
            <a:r>
              <a:rPr lang="en-US"/>
              <a:t>HHS Protect data is self-reported with known completeness gaps</a:t>
            </a:r>
          </a:p>
          <a:p>
            <a:r>
              <a:rPr lang="en-US"/>
              <a:t>Hospitals reported voluntarily and at varying frequencies, meaning some weeks have missing or delayed counts that get forward-filled or dropped during preprocessing. If a hospital underreported during a surge — which is plausible given administrative burden during peak periods — the model trains on artificially low numbers and will systematically underestimate future surges. The forecast is only as reliable as the data it was built 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Forecasts can shape behavior, not just predict it</a:t>
            </a:r>
          </a:p>
          <a:p>
            <a:r>
              <a:rPr lang="en-US"/>
              <a:t>A published surge forecast isn't passive — if administrators or the public see a high breach probability, they may change behavior in ways that reduce or amplify the surge itself. That feedback loop means the model can appear wrong even when it was right, and it's why forecast communication requires as much care as forecast accuracy.</a:t>
            </a:r>
          </a:p>
          <a:p>
            <a:r>
              <a:rPr lang="en-US"/>
              <a:t/>
            </a:r>
          </a:p>
          <a:p>
            <a:r>
              <a:rPr lang="en-US"/>
              <a:t>Errors have unequal costs: overestimates waste resources; underestimates risk lives</a:t>
            </a:r>
          </a:p>
          <a:p>
            <a:r>
              <a:rPr lang="en-US"/>
              <a:t>These consequences are not symmetric. Over-forecasting a surge means unnecessary staffing, diverted resources, and alert fatigue. Under-forecasting means patients arrive at an unprepared system. That asymmetry should inform how thresholds are set — when in doubt, the cost structure argues for erring toward earlier warnings rather than later ones.</a:t>
            </a:r>
          </a:p>
          <a:p>
            <a:r>
              <a:rPr lang="en-US"/>
              <a:t/>
            </a:r>
          </a:p>
          <a:p>
            <a:r>
              <a:rPr lang="en-US"/>
              <a:t>Uncertainty must be shown clearly to avoid treating forecasts as certainties</a:t>
            </a:r>
          </a:p>
          <a:p>
            <a:r>
              <a:rPr lang="en-US"/>
              <a:t>A point forecast without context invites false confidence. The 90% prediction intervals exist precisely to communicate what the model doesn't know, not just what it predicts. If a decision-maker only sees the center line and acts on it as a guarantee, the model has done more harm than good regardless of its accuracy.</a:t>
            </a:r>
          </a:p>
          <a:p>
            <a:r>
              <a:rPr lang="en-US"/>
              <a:t/>
            </a:r>
          </a:p>
          <a:p>
            <a:r>
              <a:rPr lang="en-US"/>
              <a:t>County-level SEIR models can hide disparities across demographic groups</a:t>
            </a:r>
          </a:p>
          <a:p>
            <a:r>
              <a:rPr lang="en-US"/>
              <a:t>SEIR treats the entire Dallas County population as a single homogeneous pool. In reality, COVID hit lower-income communities, essential workers, and communities of color harder and earlier. A county average that looks manageable can mask a localized crisis in specific zip codes or demographic groups — and a model that doesn't surface that is giving decision-makers an incomplete picture of who is actually at risk.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 close: this project demonstrates that combining mechanistic epidemiological models with statistical correction layers is a viable and effective approach to hospitalization surge forecasting. The hybrid model outperforms the SEIR baseline, produces honest uncertainty estimates, and generates actionable risk signals. The most important next steps for a production system are adaptive re-calibration to handle variant drift, a hierarchical structure to handle county-size heterogeneity, and direct integration with hospital operations teams so that the probability outputs map to actual response protocols. Thank you — happy to take questions.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I'll walk you through a hybrid forecasting model built to predict COVID-19 hospitalization surges in Dallas County, Texas.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F64B7">
                <a:alpha val="100000"/>
              </a:srgbClr>
            </a:gs>
            <a:gs pos="100000">
              <a:srgbClr val="6ACBC6">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768559" y="2006101"/>
            <a:ext cx="8044604" cy="80446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22962" y="8719220"/>
            <a:ext cx="7278339" cy="727833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813163" y="1168117"/>
            <a:ext cx="446137" cy="128021"/>
            <a:chOff x="0" y="0"/>
            <a:chExt cx="117501" cy="33718"/>
          </a:xfrm>
        </p:grpSpPr>
        <p:sp>
          <p:nvSpPr>
            <p:cNvPr name="Freeform 9" id="9"/>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FFFFFF"/>
            </a:solidFill>
            <a:ln cap="rnd">
              <a:noFill/>
              <a:prstDash val="solid"/>
              <a:round/>
            </a:ln>
          </p:spPr>
        </p:sp>
        <p:sp>
          <p:nvSpPr>
            <p:cNvPr name="TextBox 10" id="10"/>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16298478" y="1168117"/>
            <a:ext cx="446137" cy="128021"/>
            <a:chOff x="0" y="0"/>
            <a:chExt cx="117501" cy="33718"/>
          </a:xfrm>
        </p:grpSpPr>
        <p:sp>
          <p:nvSpPr>
            <p:cNvPr name="Freeform 12" id="12"/>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13" id="13"/>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14" id="14"/>
          <p:cNvGrpSpPr/>
          <p:nvPr/>
        </p:nvGrpSpPr>
        <p:grpSpPr>
          <a:xfrm rot="0">
            <a:off x="1955972" y="7340625"/>
            <a:ext cx="2537304" cy="534369"/>
            <a:chOff x="0" y="0"/>
            <a:chExt cx="640393" cy="134870"/>
          </a:xfrm>
        </p:grpSpPr>
        <p:sp>
          <p:nvSpPr>
            <p:cNvPr name="Freeform 15" id="15"/>
            <p:cNvSpPr/>
            <p:nvPr/>
          </p:nvSpPr>
          <p:spPr>
            <a:xfrm flipH="false" flipV="false" rot="0">
              <a:off x="0" y="0"/>
              <a:ext cx="640393" cy="134870"/>
            </a:xfrm>
            <a:custGeom>
              <a:avLst/>
              <a:gdLst/>
              <a:ahLst/>
              <a:cxnLst/>
              <a:rect r="r" b="b" t="t" l="l"/>
              <a:pathLst>
                <a:path h="134870" w="640393">
                  <a:moveTo>
                    <a:pt x="67435" y="0"/>
                  </a:moveTo>
                  <a:lnTo>
                    <a:pt x="572958" y="0"/>
                  </a:lnTo>
                  <a:cubicBezTo>
                    <a:pt x="590843" y="0"/>
                    <a:pt x="607996" y="7105"/>
                    <a:pt x="620642" y="19751"/>
                  </a:cubicBezTo>
                  <a:cubicBezTo>
                    <a:pt x="633289" y="32398"/>
                    <a:pt x="640393" y="49550"/>
                    <a:pt x="640393" y="67435"/>
                  </a:cubicBezTo>
                  <a:lnTo>
                    <a:pt x="640393" y="67435"/>
                  </a:lnTo>
                  <a:cubicBezTo>
                    <a:pt x="640393" y="104678"/>
                    <a:pt x="610202" y="134870"/>
                    <a:pt x="572958" y="134870"/>
                  </a:cubicBezTo>
                  <a:lnTo>
                    <a:pt x="67435" y="134870"/>
                  </a:lnTo>
                  <a:cubicBezTo>
                    <a:pt x="30192" y="134870"/>
                    <a:pt x="0" y="104678"/>
                    <a:pt x="0" y="67435"/>
                  </a:cubicBezTo>
                  <a:lnTo>
                    <a:pt x="0" y="67435"/>
                  </a:lnTo>
                  <a:cubicBezTo>
                    <a:pt x="0" y="30192"/>
                    <a:pt x="30192" y="0"/>
                    <a:pt x="67435" y="0"/>
                  </a:cubicBezTo>
                  <a:close/>
                </a:path>
              </a:pathLst>
            </a:custGeom>
            <a:solidFill>
              <a:srgbClr val="FFFFFF"/>
            </a:solidFill>
            <a:ln cap="rnd">
              <a:noFill/>
              <a:prstDash val="solid"/>
              <a:round/>
            </a:ln>
          </p:spPr>
        </p:sp>
        <p:sp>
          <p:nvSpPr>
            <p:cNvPr name="TextBox 16" id="16"/>
            <p:cNvSpPr txBox="true"/>
            <p:nvPr/>
          </p:nvSpPr>
          <p:spPr>
            <a:xfrm>
              <a:off x="0" y="-47625"/>
              <a:ext cx="640393" cy="182495"/>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17" id="17"/>
          <p:cNvGrpSpPr/>
          <p:nvPr/>
        </p:nvGrpSpPr>
        <p:grpSpPr>
          <a:xfrm rot="8715680">
            <a:off x="686461" y="2357658"/>
            <a:ext cx="1795519" cy="179551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57175" cap="sq">
              <a:gradFill>
                <a:gsLst>
                  <a:gs pos="0">
                    <a:srgbClr val="1F64B7">
                      <a:alpha val="100000"/>
                    </a:srgbClr>
                  </a:gs>
                  <a:gs pos="100000">
                    <a:srgbClr val="6ACBC6">
                      <a:alpha val="100000"/>
                    </a:srgbClr>
                  </a:gs>
                </a:gsLst>
                <a:lin ang="2700000"/>
              </a:gra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5400000">
            <a:off x="15872182" y="7075517"/>
            <a:ext cx="2029528" cy="530214"/>
          </a:xfrm>
          <a:custGeom>
            <a:avLst/>
            <a:gdLst/>
            <a:ahLst/>
            <a:cxnLst/>
            <a:rect r="r" b="b" t="t" l="l"/>
            <a:pathLst>
              <a:path h="530214" w="2029528">
                <a:moveTo>
                  <a:pt x="0" y="0"/>
                </a:moveTo>
                <a:lnTo>
                  <a:pt x="2029527" y="0"/>
                </a:lnTo>
                <a:lnTo>
                  <a:pt x="2029527" y="530215"/>
                </a:lnTo>
                <a:lnTo>
                  <a:pt x="0" y="5302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955972" y="2867628"/>
            <a:ext cx="12817035" cy="2693369"/>
          </a:xfrm>
          <a:prstGeom prst="rect">
            <a:avLst/>
          </a:prstGeom>
        </p:spPr>
        <p:txBody>
          <a:bodyPr anchor="t" rtlCol="false" tIns="0" lIns="0" bIns="0" rIns="0">
            <a:spAutoFit/>
          </a:bodyPr>
          <a:lstStyle/>
          <a:p>
            <a:pPr algn="l">
              <a:lnSpc>
                <a:spcPts val="10406"/>
              </a:lnSpc>
            </a:pPr>
            <a:r>
              <a:rPr lang="en-US" sz="7883">
                <a:solidFill>
                  <a:srgbClr val="FFFFFF"/>
                </a:solidFill>
                <a:latin typeface="Poppins"/>
                <a:ea typeface="Poppins"/>
                <a:cs typeface="Poppins"/>
                <a:sym typeface="Poppins"/>
              </a:rPr>
              <a:t>COVID-19 Hospitalization Surge Forecasting</a:t>
            </a:r>
          </a:p>
        </p:txBody>
      </p:sp>
      <p:sp>
        <p:nvSpPr>
          <p:cNvPr name="TextBox 22" id="22"/>
          <p:cNvSpPr txBox="true"/>
          <p:nvPr/>
        </p:nvSpPr>
        <p:spPr>
          <a:xfrm rot="0">
            <a:off x="2035274" y="7402809"/>
            <a:ext cx="2388012" cy="362376"/>
          </a:xfrm>
          <a:prstGeom prst="rect">
            <a:avLst/>
          </a:prstGeom>
        </p:spPr>
        <p:txBody>
          <a:bodyPr anchor="t" rtlCol="false" tIns="0" lIns="0" bIns="0" rIns="0">
            <a:spAutoFit/>
          </a:bodyPr>
          <a:lstStyle/>
          <a:p>
            <a:pPr algn="ctr">
              <a:lnSpc>
                <a:spcPts val="2921"/>
              </a:lnSpc>
            </a:pPr>
            <a:r>
              <a:rPr lang="en-US" sz="2087">
                <a:solidFill>
                  <a:srgbClr val="1F64B7"/>
                </a:solidFill>
                <a:latin typeface="DM Sans"/>
                <a:ea typeface="DM Sans"/>
                <a:cs typeface="DM Sans"/>
                <a:sym typeface="DM Sans"/>
              </a:rPr>
              <a:t>Roschelle Dsouza</a:t>
            </a:r>
          </a:p>
        </p:txBody>
      </p:sp>
      <p:sp>
        <p:nvSpPr>
          <p:cNvPr name="Freeform 23" id="23"/>
          <p:cNvSpPr/>
          <p:nvPr/>
        </p:nvSpPr>
        <p:spPr>
          <a:xfrm flipH="false" flipV="false" rot="-5400000">
            <a:off x="47197" y="8518001"/>
            <a:ext cx="2038081" cy="532449"/>
          </a:xfrm>
          <a:custGeom>
            <a:avLst/>
            <a:gdLst/>
            <a:ahLst/>
            <a:cxnLst/>
            <a:rect r="r" b="b" t="t" l="l"/>
            <a:pathLst>
              <a:path h="532449" w="2038081">
                <a:moveTo>
                  <a:pt x="0" y="0"/>
                </a:moveTo>
                <a:lnTo>
                  <a:pt x="2038081" y="0"/>
                </a:lnTo>
                <a:lnTo>
                  <a:pt x="2038081" y="532449"/>
                </a:lnTo>
                <a:lnTo>
                  <a:pt x="0" y="5324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4" id="24"/>
          <p:cNvSpPr txBox="true"/>
          <p:nvPr/>
        </p:nvSpPr>
        <p:spPr>
          <a:xfrm rot="0">
            <a:off x="9139238" y="4971097"/>
            <a:ext cx="9525" cy="306705"/>
          </a:xfrm>
          <a:prstGeom prst="rect">
            <a:avLst/>
          </a:prstGeom>
        </p:spPr>
        <p:txBody>
          <a:bodyPr anchor="t" rtlCol="false" tIns="0" lIns="0" bIns="0" rIns="0">
            <a:spAutoFit/>
          </a:bodyPr>
          <a:lstStyle/>
          <a:p>
            <a:pPr algn="ctr">
              <a:lnSpc>
                <a:spcPts val="2520"/>
              </a:lnSpc>
            </a:pPr>
          </a:p>
        </p:txBody>
      </p:sp>
      <p:sp>
        <p:nvSpPr>
          <p:cNvPr name="TextBox 25" id="25"/>
          <p:cNvSpPr txBox="true"/>
          <p:nvPr/>
        </p:nvSpPr>
        <p:spPr>
          <a:xfrm rot="0">
            <a:off x="9139238" y="5211128"/>
            <a:ext cx="9525" cy="547370"/>
          </a:xfrm>
          <a:prstGeom prst="rect">
            <a:avLst/>
          </a:prstGeom>
        </p:spPr>
        <p:txBody>
          <a:bodyPr anchor="t" rtlCol="false" tIns="0" lIns="0" bIns="0" rIns="0">
            <a:spAutoFit/>
          </a:bodyPr>
          <a:lstStyle/>
          <a:p>
            <a:pPr algn="ctr">
              <a:lnSpc>
                <a:spcPts val="4480"/>
              </a:lnSpc>
            </a:pPr>
          </a:p>
        </p:txBody>
      </p:sp>
      <p:sp>
        <p:nvSpPr>
          <p:cNvPr name="TextBox 26" id="26"/>
          <p:cNvSpPr txBox="true"/>
          <p:nvPr/>
        </p:nvSpPr>
        <p:spPr>
          <a:xfrm rot="0">
            <a:off x="1955972" y="5923628"/>
            <a:ext cx="12606576" cy="830580"/>
          </a:xfrm>
          <a:prstGeom prst="rect">
            <a:avLst/>
          </a:prstGeom>
        </p:spPr>
        <p:txBody>
          <a:bodyPr anchor="t" rtlCol="false" tIns="0" lIns="0" bIns="0" rIns="0">
            <a:spAutoFit/>
          </a:bodyPr>
          <a:lstStyle/>
          <a:p>
            <a:pPr algn="ctr">
              <a:lnSpc>
                <a:spcPts val="6719"/>
              </a:lnSpc>
            </a:pPr>
            <a:r>
              <a:rPr lang="en-US" sz="4800" b="true">
                <a:solidFill>
                  <a:srgbClr val="FFFFFF"/>
                </a:solidFill>
                <a:latin typeface="1883 Sans Bold"/>
                <a:ea typeface="1883 Sans Bold"/>
                <a:cs typeface="1883 Sans Bold"/>
                <a:sym typeface="1883 Sans Bold"/>
              </a:rPr>
              <a:t>Hybrid SEIR + Statistical Correction Model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4648830" y="5063434"/>
            <a:ext cx="7278339" cy="72783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291817" y="8510093"/>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5400000">
            <a:off x="11746036" y="4136642"/>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3639170" y="-5450766"/>
            <a:ext cx="7278339" cy="72783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451041" y="5791367"/>
            <a:ext cx="11644130" cy="3648120"/>
            <a:chOff x="0" y="0"/>
            <a:chExt cx="3066767" cy="960822"/>
          </a:xfrm>
        </p:grpSpPr>
        <p:sp>
          <p:nvSpPr>
            <p:cNvPr name="Freeform 17" id="17"/>
            <p:cNvSpPr/>
            <p:nvPr/>
          </p:nvSpPr>
          <p:spPr>
            <a:xfrm flipH="false" flipV="false" rot="0">
              <a:off x="0" y="0"/>
              <a:ext cx="3066767" cy="960822"/>
            </a:xfrm>
            <a:custGeom>
              <a:avLst/>
              <a:gdLst/>
              <a:ahLst/>
              <a:cxnLst/>
              <a:rect r="r" b="b" t="t" l="l"/>
              <a:pathLst>
                <a:path h="960822" w="3066767">
                  <a:moveTo>
                    <a:pt x="33909" y="0"/>
                  </a:moveTo>
                  <a:lnTo>
                    <a:pt x="3032858" y="0"/>
                  </a:lnTo>
                  <a:cubicBezTo>
                    <a:pt x="3051585" y="0"/>
                    <a:pt x="3066767" y="15181"/>
                    <a:pt x="3066767" y="33909"/>
                  </a:cubicBezTo>
                  <a:lnTo>
                    <a:pt x="3066767" y="926913"/>
                  </a:lnTo>
                  <a:cubicBezTo>
                    <a:pt x="3066767" y="945640"/>
                    <a:pt x="3051585" y="960822"/>
                    <a:pt x="3032858" y="960822"/>
                  </a:cubicBezTo>
                  <a:lnTo>
                    <a:pt x="33909" y="960822"/>
                  </a:lnTo>
                  <a:cubicBezTo>
                    <a:pt x="15181" y="960822"/>
                    <a:pt x="0" y="945640"/>
                    <a:pt x="0" y="926913"/>
                  </a:cubicBezTo>
                  <a:lnTo>
                    <a:pt x="0" y="33909"/>
                  </a:lnTo>
                  <a:cubicBezTo>
                    <a:pt x="0" y="15181"/>
                    <a:pt x="15181" y="0"/>
                    <a:pt x="33909" y="0"/>
                  </a:cubicBezTo>
                  <a:close/>
                </a:path>
              </a:pathLst>
            </a:custGeom>
            <a:solidFill>
              <a:srgbClr val="E4FCFF"/>
            </a:solidFill>
          </p:spPr>
        </p:sp>
        <p:sp>
          <p:nvSpPr>
            <p:cNvPr name="TextBox 18" id="18"/>
            <p:cNvSpPr txBox="true"/>
            <p:nvPr/>
          </p:nvSpPr>
          <p:spPr>
            <a:xfrm>
              <a:off x="0" y="-38100"/>
              <a:ext cx="3066767" cy="998922"/>
            </a:xfrm>
            <a:prstGeom prst="rect">
              <a:avLst/>
            </a:prstGeom>
          </p:spPr>
          <p:txBody>
            <a:bodyPr anchor="ctr" rtlCol="false" tIns="50800" lIns="50800" bIns="50800" rIns="50800"/>
            <a:lstStyle/>
            <a:p>
              <a:pPr algn="ctr">
                <a:lnSpc>
                  <a:spcPts val="2799"/>
                </a:lnSpc>
              </a:pPr>
            </a:p>
          </p:txBody>
        </p:sp>
      </p:grpSp>
      <p:sp>
        <p:nvSpPr>
          <p:cNvPr name="TextBox 19" id="19"/>
          <p:cNvSpPr txBox="true"/>
          <p:nvPr/>
        </p:nvSpPr>
        <p:spPr>
          <a:xfrm rot="0">
            <a:off x="2451041" y="1548578"/>
            <a:ext cx="9839367" cy="1039844"/>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Core Issue + Solution</a:t>
            </a:r>
          </a:p>
        </p:txBody>
      </p:sp>
      <p:sp>
        <p:nvSpPr>
          <p:cNvPr name="TextBox 20" id="20"/>
          <p:cNvSpPr txBox="true"/>
          <p:nvPr/>
        </p:nvSpPr>
        <p:spPr>
          <a:xfrm rot="0">
            <a:off x="2858536" y="6046659"/>
            <a:ext cx="10779325" cy="2947036"/>
          </a:xfrm>
          <a:prstGeom prst="rect">
            <a:avLst/>
          </a:prstGeom>
        </p:spPr>
        <p:txBody>
          <a:bodyPr anchor="t" rtlCol="false" tIns="0" lIns="0" bIns="0" rIns="0">
            <a:spAutoFit/>
          </a:bodyPr>
          <a:lstStyle/>
          <a:p>
            <a:pPr algn="l">
              <a:lnSpc>
                <a:spcPts val="4799"/>
              </a:lnSpc>
            </a:pPr>
            <a:r>
              <a:rPr lang="en-US" b="true" sz="2399">
                <a:solidFill>
                  <a:srgbClr val="000000"/>
                </a:solidFill>
                <a:latin typeface="1883 Sans Bold"/>
                <a:ea typeface="1883 Sans Bold"/>
                <a:cs typeface="1883 Sans Bold"/>
                <a:sym typeface="1883 Sans Bold"/>
              </a:rPr>
              <a:t>T</a:t>
            </a:r>
            <a:r>
              <a:rPr lang="en-US" b="true" sz="2399" strike="noStrike" u="none">
                <a:solidFill>
                  <a:srgbClr val="000000"/>
                </a:solidFill>
                <a:latin typeface="1883 Sans Bold"/>
                <a:ea typeface="1883 Sans Bold"/>
                <a:cs typeface="1883 Sans Bold"/>
                <a:sym typeface="1883 Sans Bold"/>
              </a:rPr>
              <a:t>he solution: </a:t>
            </a:r>
            <a:r>
              <a:rPr lang="en-US" sz="2399" strike="noStrike" u="none">
                <a:solidFill>
                  <a:srgbClr val="000000"/>
                </a:solidFill>
                <a:latin typeface="1883 Sans"/>
                <a:ea typeface="1883 Sans"/>
                <a:cs typeface="1883 Sans"/>
                <a:sym typeface="1883 Sans"/>
              </a:rPr>
              <a:t>combine the mechanistic logic of </a:t>
            </a:r>
            <a:r>
              <a:rPr lang="en-US" b="true" sz="2399" strike="noStrike" u="none">
                <a:solidFill>
                  <a:srgbClr val="000000"/>
                </a:solidFill>
                <a:latin typeface="1883 Sans Bold"/>
                <a:ea typeface="1883 Sans Bold"/>
                <a:cs typeface="1883 Sans Bold"/>
                <a:sym typeface="1883 Sans Bold"/>
              </a:rPr>
              <a:t>epidemiological models</a:t>
            </a:r>
            <a:r>
              <a:rPr lang="en-US" sz="2399" strike="noStrike" u="none">
                <a:solidFill>
                  <a:srgbClr val="000000"/>
                </a:solidFill>
                <a:latin typeface="1883 Sans"/>
                <a:ea typeface="1883 Sans"/>
                <a:cs typeface="1883 Sans"/>
                <a:sym typeface="1883 Sans"/>
              </a:rPr>
              <a:t> with</a:t>
            </a:r>
            <a:r>
              <a:rPr lang="en-US" b="true" sz="2399" strike="noStrike" u="none">
                <a:solidFill>
                  <a:srgbClr val="000000"/>
                </a:solidFill>
                <a:latin typeface="1883 Sans Bold"/>
                <a:ea typeface="1883 Sans Bold"/>
                <a:cs typeface="1883 Sans Bold"/>
                <a:sym typeface="1883 Sans Bold"/>
              </a:rPr>
              <a:t> data-driven correction</a:t>
            </a:r>
            <a:r>
              <a:rPr lang="en-US" sz="2399" strike="noStrike" u="none">
                <a:solidFill>
                  <a:srgbClr val="000000"/>
                </a:solidFill>
                <a:latin typeface="1883 Sans"/>
                <a:ea typeface="1883 Sans"/>
                <a:cs typeface="1883 Sans"/>
                <a:sym typeface="1883 Sans"/>
              </a:rPr>
              <a:t> to produce actionable, uncertainty-aware forecasts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A</a:t>
            </a:r>
            <a:r>
              <a:rPr lang="en-US" sz="2399" strike="noStrike" u="none">
                <a:solidFill>
                  <a:srgbClr val="000000"/>
                </a:solidFill>
                <a:latin typeface="1883 Sans"/>
                <a:ea typeface="1883 Sans"/>
                <a:cs typeface="1883 Sans"/>
                <a:sym typeface="1883 Sans"/>
              </a:rPr>
              <a:t>u</a:t>
            </a:r>
            <a:r>
              <a:rPr lang="en-US" sz="2399" strike="noStrike" u="none">
                <a:solidFill>
                  <a:srgbClr val="000000"/>
                </a:solidFill>
                <a:latin typeface="1883 Sans"/>
                <a:ea typeface="1883 Sans"/>
                <a:cs typeface="1883 Sans"/>
                <a:sym typeface="1883 Sans"/>
              </a:rPr>
              <a:t>dience: ho</a:t>
            </a:r>
            <a:r>
              <a:rPr lang="en-US" sz="2399" strike="noStrike" u="none">
                <a:solidFill>
                  <a:srgbClr val="000000"/>
                </a:solidFill>
                <a:latin typeface="1883 Sans"/>
                <a:ea typeface="1883 Sans"/>
                <a:cs typeface="1883 Sans"/>
                <a:sym typeface="1883 Sans"/>
              </a:rPr>
              <a:t>s</a:t>
            </a:r>
            <a:r>
              <a:rPr lang="en-US" sz="2399" strike="noStrike" u="none">
                <a:solidFill>
                  <a:srgbClr val="000000"/>
                </a:solidFill>
                <a:latin typeface="1883 Sans"/>
                <a:ea typeface="1883 Sans"/>
                <a:cs typeface="1883 Sans"/>
                <a:sym typeface="1883 Sans"/>
              </a:rPr>
              <a:t>pital</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admin</a:t>
            </a:r>
            <a:r>
              <a:rPr lang="en-US" sz="2399" strike="noStrike" u="none">
                <a:solidFill>
                  <a:srgbClr val="000000"/>
                </a:solidFill>
                <a:latin typeface="1883 Sans"/>
                <a:ea typeface="1883 Sans"/>
                <a:cs typeface="1883 Sans"/>
                <a:sym typeface="1883 Sans"/>
              </a:rPr>
              <a:t>i</a:t>
            </a:r>
            <a:r>
              <a:rPr lang="en-US" sz="2399" strike="noStrike" u="none">
                <a:solidFill>
                  <a:srgbClr val="000000"/>
                </a:solidFill>
                <a:latin typeface="1883 Sans"/>
                <a:ea typeface="1883 Sans"/>
                <a:cs typeface="1883 Sans"/>
                <a:sym typeface="1883 Sans"/>
              </a:rPr>
              <a:t>strators a</a:t>
            </a:r>
            <a:r>
              <a:rPr lang="en-US" sz="2399" strike="noStrike" u="none">
                <a:solidFill>
                  <a:srgbClr val="000000"/>
                </a:solidFill>
                <a:latin typeface="1883 Sans"/>
                <a:ea typeface="1883 Sans"/>
                <a:cs typeface="1883 Sans"/>
                <a:sym typeface="1883 Sans"/>
              </a:rPr>
              <a:t>nd </a:t>
            </a:r>
            <a:r>
              <a:rPr lang="en-US" sz="2399" strike="noStrike" u="none">
                <a:solidFill>
                  <a:srgbClr val="000000"/>
                </a:solidFill>
                <a:latin typeface="1883 Sans"/>
                <a:ea typeface="1883 Sans"/>
                <a:cs typeface="1883 Sans"/>
                <a:sym typeface="1883 Sans"/>
              </a:rPr>
              <a:t>p</a:t>
            </a:r>
            <a:r>
              <a:rPr lang="en-US" sz="2399" strike="noStrike" u="none">
                <a:solidFill>
                  <a:srgbClr val="000000"/>
                </a:solidFill>
                <a:latin typeface="1883 Sans"/>
                <a:ea typeface="1883 Sans"/>
                <a:cs typeface="1883 Sans"/>
                <a:sym typeface="1883 Sans"/>
              </a:rPr>
              <a:t>u</a:t>
            </a:r>
            <a:r>
              <a:rPr lang="en-US" sz="2399" strike="noStrike" u="none">
                <a:solidFill>
                  <a:srgbClr val="000000"/>
                </a:solidFill>
                <a:latin typeface="1883 Sans"/>
                <a:ea typeface="1883 Sans"/>
                <a:cs typeface="1883 Sans"/>
                <a:sym typeface="1883 Sans"/>
              </a:rPr>
              <a:t>blic</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h</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alth </a:t>
            </a:r>
            <a:r>
              <a:rPr lang="en-US" sz="2399" strike="noStrike" u="none">
                <a:solidFill>
                  <a:srgbClr val="000000"/>
                </a:solidFill>
                <a:latin typeface="1883 Sans"/>
                <a:ea typeface="1883 Sans"/>
                <a:cs typeface="1883 Sans"/>
                <a:sym typeface="1883 Sans"/>
              </a:rPr>
              <a:t>age</a:t>
            </a:r>
            <a:r>
              <a:rPr lang="en-US" sz="2399" strike="noStrike" u="none">
                <a:solidFill>
                  <a:srgbClr val="000000"/>
                </a:solidFill>
                <a:latin typeface="1883 Sans"/>
                <a:ea typeface="1883 Sans"/>
                <a:cs typeface="1883 Sans"/>
                <a:sym typeface="1883 Sans"/>
              </a:rPr>
              <a:t>ncies</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who n</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ed lead </a:t>
            </a:r>
            <a:r>
              <a:rPr lang="en-US" sz="2399" strike="noStrike" u="none">
                <a:solidFill>
                  <a:srgbClr val="000000"/>
                </a:solidFill>
                <a:latin typeface="1883 Sans"/>
                <a:ea typeface="1883 Sans"/>
                <a:cs typeface="1883 Sans"/>
                <a:sym typeface="1883 Sans"/>
              </a:rPr>
              <a:t>t</a:t>
            </a:r>
            <a:r>
              <a:rPr lang="en-US" sz="2399" strike="noStrike" u="none">
                <a:solidFill>
                  <a:srgbClr val="000000"/>
                </a:solidFill>
                <a:latin typeface="1883 Sans"/>
                <a:ea typeface="1883 Sans"/>
                <a:cs typeface="1883 Sans"/>
                <a:sym typeface="1883 Sans"/>
              </a:rPr>
              <a:t>ime to act</a:t>
            </a:r>
          </a:p>
        </p:txBody>
      </p:sp>
      <p:grpSp>
        <p:nvGrpSpPr>
          <p:cNvPr name="Group 21" id="21"/>
          <p:cNvGrpSpPr/>
          <p:nvPr/>
        </p:nvGrpSpPr>
        <p:grpSpPr>
          <a:xfrm rot="0">
            <a:off x="2451041" y="2978947"/>
            <a:ext cx="11644130" cy="2421895"/>
            <a:chOff x="0" y="0"/>
            <a:chExt cx="3066767" cy="637865"/>
          </a:xfrm>
        </p:grpSpPr>
        <p:sp>
          <p:nvSpPr>
            <p:cNvPr name="Freeform 22" id="22"/>
            <p:cNvSpPr/>
            <p:nvPr/>
          </p:nvSpPr>
          <p:spPr>
            <a:xfrm flipH="false" flipV="false" rot="0">
              <a:off x="0" y="0"/>
              <a:ext cx="3066767" cy="637865"/>
            </a:xfrm>
            <a:custGeom>
              <a:avLst/>
              <a:gdLst/>
              <a:ahLst/>
              <a:cxnLst/>
              <a:rect r="r" b="b" t="t" l="l"/>
              <a:pathLst>
                <a:path h="637865" w="3066767">
                  <a:moveTo>
                    <a:pt x="33909" y="0"/>
                  </a:moveTo>
                  <a:lnTo>
                    <a:pt x="3032858" y="0"/>
                  </a:lnTo>
                  <a:cubicBezTo>
                    <a:pt x="3051585" y="0"/>
                    <a:pt x="3066767" y="15181"/>
                    <a:pt x="3066767" y="33909"/>
                  </a:cubicBezTo>
                  <a:lnTo>
                    <a:pt x="3066767" y="603957"/>
                  </a:lnTo>
                  <a:cubicBezTo>
                    <a:pt x="3066767" y="622684"/>
                    <a:pt x="3051585" y="637865"/>
                    <a:pt x="3032858" y="637865"/>
                  </a:cubicBezTo>
                  <a:lnTo>
                    <a:pt x="33909" y="637865"/>
                  </a:lnTo>
                  <a:cubicBezTo>
                    <a:pt x="15181" y="637865"/>
                    <a:pt x="0" y="622684"/>
                    <a:pt x="0" y="603957"/>
                  </a:cubicBezTo>
                  <a:lnTo>
                    <a:pt x="0" y="33909"/>
                  </a:lnTo>
                  <a:cubicBezTo>
                    <a:pt x="0" y="15181"/>
                    <a:pt x="15181" y="0"/>
                    <a:pt x="33909" y="0"/>
                  </a:cubicBezTo>
                  <a:close/>
                </a:path>
              </a:pathLst>
            </a:custGeom>
            <a:solidFill>
              <a:srgbClr val="E4FCFF"/>
            </a:solidFill>
          </p:spPr>
        </p:sp>
        <p:sp>
          <p:nvSpPr>
            <p:cNvPr name="TextBox 23" id="23"/>
            <p:cNvSpPr txBox="true"/>
            <p:nvPr/>
          </p:nvSpPr>
          <p:spPr>
            <a:xfrm>
              <a:off x="0" y="-38100"/>
              <a:ext cx="3066767" cy="675965"/>
            </a:xfrm>
            <a:prstGeom prst="rect">
              <a:avLst/>
            </a:prstGeom>
          </p:spPr>
          <p:txBody>
            <a:bodyPr anchor="ctr" rtlCol="false" tIns="50800" lIns="50800" bIns="50800" rIns="50800"/>
            <a:lstStyle/>
            <a:p>
              <a:pPr algn="ctr">
                <a:lnSpc>
                  <a:spcPts val="2799"/>
                </a:lnSpc>
              </a:pPr>
            </a:p>
          </p:txBody>
        </p:sp>
      </p:grpSp>
      <p:sp>
        <p:nvSpPr>
          <p:cNvPr name="TextBox 24" id="24"/>
          <p:cNvSpPr txBox="true"/>
          <p:nvPr/>
        </p:nvSpPr>
        <p:spPr>
          <a:xfrm rot="0">
            <a:off x="2858536" y="3234239"/>
            <a:ext cx="10779325" cy="1746886"/>
          </a:xfrm>
          <a:prstGeom prst="rect">
            <a:avLst/>
          </a:prstGeom>
        </p:spPr>
        <p:txBody>
          <a:bodyPr anchor="t" rtlCol="false" tIns="0" lIns="0" bIns="0" rIns="0">
            <a:spAutoFit/>
          </a:bodyPr>
          <a:lstStyle/>
          <a:p>
            <a:pPr algn="l" marL="518158" indent="-259079" lvl="1">
              <a:lnSpc>
                <a:spcPts val="4799"/>
              </a:lnSpc>
              <a:buFont typeface="Arial"/>
              <a:buChar char="•"/>
            </a:pPr>
            <a:r>
              <a:rPr lang="en-US" sz="2399">
                <a:solidFill>
                  <a:srgbClr val="000000"/>
                </a:solidFill>
                <a:latin typeface="1883 Sans"/>
                <a:ea typeface="1883 Sans"/>
                <a:cs typeface="1883 Sans"/>
                <a:sym typeface="1883 Sans"/>
              </a:rPr>
              <a:t>Tradi</a:t>
            </a:r>
            <a:r>
              <a:rPr lang="en-US" sz="2399" strike="noStrike" u="none">
                <a:solidFill>
                  <a:srgbClr val="000000"/>
                </a:solidFill>
                <a:latin typeface="1883 Sans"/>
                <a:ea typeface="1883 Sans"/>
                <a:cs typeface="1883 Sans"/>
                <a:sym typeface="1883 Sans"/>
              </a:rPr>
              <a:t>tional hospital capacity models assumed steady-state demand — they were </a:t>
            </a:r>
            <a:r>
              <a:rPr lang="en-US" b="true" sz="2399" strike="noStrike" u="none">
                <a:solidFill>
                  <a:srgbClr val="000000"/>
                </a:solidFill>
                <a:latin typeface="1883 Sans Bold"/>
                <a:ea typeface="1883 Sans Bold"/>
                <a:cs typeface="1883 Sans Bold"/>
                <a:sym typeface="1883 Sans Bold"/>
              </a:rPr>
              <a:t>not built for exponent</a:t>
            </a:r>
            <a:r>
              <a:rPr lang="en-US" b="true" sz="2399" strike="noStrike" u="none">
                <a:solidFill>
                  <a:srgbClr val="000000"/>
                </a:solidFill>
                <a:latin typeface="1883 Sans Bold"/>
                <a:ea typeface="1883 Sans Bold"/>
                <a:cs typeface="1883 Sans Bold"/>
                <a:sym typeface="1883 Sans Bold"/>
              </a:rPr>
              <a:t>i</a:t>
            </a:r>
            <a:r>
              <a:rPr lang="en-US" b="true" sz="2399" strike="noStrike" u="none">
                <a:solidFill>
                  <a:srgbClr val="000000"/>
                </a:solidFill>
                <a:latin typeface="1883 Sans Bold"/>
                <a:ea typeface="1883 Sans Bold"/>
                <a:cs typeface="1883 Sans Bold"/>
                <a:sym typeface="1883 Sans Bold"/>
              </a:rPr>
              <a:t>al s</a:t>
            </a:r>
            <a:r>
              <a:rPr lang="en-US" b="true" sz="2399" strike="noStrike" u="none">
                <a:solidFill>
                  <a:srgbClr val="000000"/>
                </a:solidFill>
                <a:latin typeface="1883 Sans Bold"/>
                <a:ea typeface="1883 Sans Bold"/>
                <a:cs typeface="1883 Sans Bold"/>
                <a:sym typeface="1883 Sans Bold"/>
              </a:rPr>
              <a:t>u</a:t>
            </a:r>
            <a:r>
              <a:rPr lang="en-US" b="true" sz="2399" strike="noStrike" u="none">
                <a:solidFill>
                  <a:srgbClr val="000000"/>
                </a:solidFill>
                <a:latin typeface="1883 Sans Bold"/>
                <a:ea typeface="1883 Sans Bold"/>
                <a:cs typeface="1883 Sans Bold"/>
                <a:sym typeface="1883 Sans Bold"/>
              </a:rPr>
              <a:t>r</a:t>
            </a:r>
            <a:r>
              <a:rPr lang="en-US" b="true" sz="2399" strike="noStrike" u="none">
                <a:solidFill>
                  <a:srgbClr val="000000"/>
                </a:solidFill>
                <a:latin typeface="1883 Sans Bold"/>
                <a:ea typeface="1883 Sans Bold"/>
                <a:cs typeface="1883 Sans Bold"/>
                <a:sym typeface="1883 Sans Bold"/>
              </a:rPr>
              <a:t>ges.</a:t>
            </a:r>
            <a:r>
              <a:rPr lang="en-US" sz="2399" strike="noStrike" u="none">
                <a:solidFill>
                  <a:srgbClr val="000000"/>
                </a:solidFill>
                <a:latin typeface="1883 Sans"/>
                <a:ea typeface="1883 Sans"/>
                <a:cs typeface="1883 Sans"/>
                <a:sym typeface="1883 Sans"/>
              </a:rPr>
              <a:t> COVID-19 exp</a:t>
            </a:r>
            <a:r>
              <a:rPr lang="en-US" sz="2399" strike="noStrike" u="none">
                <a:solidFill>
                  <a:srgbClr val="000000"/>
                </a:solidFill>
                <a:latin typeface="1883 Sans"/>
                <a:ea typeface="1883 Sans"/>
                <a:cs typeface="1883 Sans"/>
                <a:sym typeface="1883 Sans"/>
              </a:rPr>
              <a:t>os</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d thi</a:t>
            </a:r>
            <a:r>
              <a:rPr lang="en-US" sz="2399" strike="noStrike" u="none">
                <a:solidFill>
                  <a:srgbClr val="000000"/>
                </a:solidFill>
                <a:latin typeface="1883 Sans"/>
                <a:ea typeface="1883 Sans"/>
                <a:cs typeface="1883 Sans"/>
                <a:sym typeface="1883 Sans"/>
              </a:rPr>
              <a:t>s</a:t>
            </a:r>
            <a:r>
              <a:rPr lang="en-US" sz="2399" strike="noStrike" u="none">
                <a:solidFill>
                  <a:srgbClr val="000000"/>
                </a:solidFill>
                <a:latin typeface="1883 Sans"/>
                <a:ea typeface="1883 Sans"/>
                <a:cs typeface="1883 Sans"/>
                <a:sym typeface="1883 Sans"/>
              </a:rPr>
              <a:t> ga</a:t>
            </a:r>
            <a:r>
              <a:rPr lang="en-US" sz="2399" strike="noStrike" u="none">
                <a:solidFill>
                  <a:srgbClr val="000000"/>
                </a:solidFill>
                <a:latin typeface="1883 Sans"/>
                <a:ea typeface="1883 Sans"/>
                <a:cs typeface="1883 Sans"/>
                <a:sym typeface="1883 Sans"/>
              </a:rPr>
              <a:t>p: sys</a:t>
            </a:r>
            <a:r>
              <a:rPr lang="en-US" sz="2399" strike="noStrike" u="none">
                <a:solidFill>
                  <a:srgbClr val="000000"/>
                </a:solidFill>
                <a:latin typeface="1883 Sans"/>
                <a:ea typeface="1883 Sans"/>
                <a:cs typeface="1883 Sans"/>
                <a:sym typeface="1883 Sans"/>
              </a:rPr>
              <a:t>t</a:t>
            </a:r>
            <a:r>
              <a:rPr lang="en-US" sz="2399" strike="noStrike" u="none">
                <a:solidFill>
                  <a:srgbClr val="000000"/>
                </a:solidFill>
                <a:latin typeface="1883 Sans"/>
                <a:ea typeface="1883 Sans"/>
                <a:cs typeface="1883 Sans"/>
                <a:sym typeface="1883 Sans"/>
              </a:rPr>
              <a:t>ems</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w</a:t>
            </a:r>
            <a:r>
              <a:rPr lang="en-US" sz="2399" strike="noStrike" u="none">
                <a:solidFill>
                  <a:srgbClr val="000000"/>
                </a:solidFill>
                <a:latin typeface="1883 Sans"/>
                <a:ea typeface="1883 Sans"/>
                <a:cs typeface="1883 Sans"/>
                <a:sym typeface="1883 Sans"/>
              </a:rPr>
              <a:t>ere overwhelmed </a:t>
            </a:r>
            <a:r>
              <a:rPr lang="en-US" sz="2399" strike="noStrike" u="none">
                <a:solidFill>
                  <a:srgbClr val="000000"/>
                </a:solidFill>
                <a:latin typeface="1883 Sans"/>
                <a:ea typeface="1883 Sans"/>
                <a:cs typeface="1883 Sans"/>
                <a:sym typeface="1883 Sans"/>
              </a:rPr>
              <a:t>b</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fore</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plann</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rs</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c</a:t>
            </a:r>
            <a:r>
              <a:rPr lang="en-US" sz="2399" strike="noStrike" u="none">
                <a:solidFill>
                  <a:srgbClr val="000000"/>
                </a:solidFill>
                <a:latin typeface="1883 Sans"/>
                <a:ea typeface="1883 Sans"/>
                <a:cs typeface="1883 Sans"/>
                <a:sym typeface="1883 Sans"/>
              </a:rPr>
              <a:t>o</a:t>
            </a:r>
            <a:r>
              <a:rPr lang="en-US" sz="2399" strike="noStrike" u="none">
                <a:solidFill>
                  <a:srgbClr val="000000"/>
                </a:solidFill>
                <a:latin typeface="1883 Sans"/>
                <a:ea typeface="1883 Sans"/>
                <a:cs typeface="1883 Sans"/>
                <a:sym typeface="1883 Sans"/>
              </a:rPr>
              <a:t>uld</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re</a:t>
            </a:r>
            <a:r>
              <a:rPr lang="en-US" sz="2399" strike="noStrike" u="none">
                <a:solidFill>
                  <a:srgbClr val="000000"/>
                </a:solidFill>
                <a:latin typeface="1883 Sans"/>
                <a:ea typeface="1883 Sans"/>
                <a:cs typeface="1883 Sans"/>
                <a:sym typeface="1883 Sans"/>
              </a:rPr>
              <a:t>act</a:t>
            </a:r>
            <a:r>
              <a:rPr lang="en-US" sz="2399" strike="noStrike" u="none">
                <a:solidFill>
                  <a:srgbClr val="000000"/>
                </a:solidFill>
                <a:latin typeface="1883 Sans"/>
                <a:ea typeface="1883 Sans"/>
                <a:cs typeface="1883 Sans"/>
                <a:sym typeface="1883 Sans"/>
              </a:rPr>
              <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0108521" y="3204192"/>
            <a:ext cx="377329" cy="37732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F64B7">
                    <a:alpha val="100000"/>
                  </a:srgbClr>
                </a:gs>
                <a:gs pos="100000">
                  <a:srgbClr val="6ACBC6">
                    <a:alpha val="100000"/>
                  </a:srgbClr>
                </a:gs>
              </a:gsLst>
              <a:lin ang="270000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10108521" y="5398572"/>
            <a:ext cx="377329" cy="37732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F64B7">
                    <a:alpha val="100000"/>
                  </a:srgbClr>
                </a:gs>
                <a:gs pos="100000">
                  <a:srgbClr val="6ACBC6">
                    <a:alpha val="100000"/>
                  </a:srgbClr>
                </a:gs>
              </a:gsLst>
              <a:lin ang="270000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Freeform 14" id="14"/>
          <p:cNvSpPr/>
          <p:nvPr/>
        </p:nvSpPr>
        <p:spPr>
          <a:xfrm flipH="false" flipV="false" rot="-5400000">
            <a:off x="16714928" y="8882880"/>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5400000">
            <a:off x="8388893" y="2434696"/>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698577" y="1124220"/>
            <a:ext cx="6460326" cy="7951171"/>
            <a:chOff x="0" y="0"/>
            <a:chExt cx="660400" cy="812800"/>
          </a:xfrm>
        </p:grpSpPr>
        <p:sp>
          <p:nvSpPr>
            <p:cNvPr name="Freeform 17" id="17"/>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blipFill>
              <a:blip r:embed="rId5"/>
              <a:stretch>
                <a:fillRect l="-63174" t="0" r="-63174" b="0"/>
              </a:stretch>
            </a:blipFill>
          </p:spPr>
        </p:sp>
      </p:grpSp>
      <p:sp>
        <p:nvSpPr>
          <p:cNvPr name="TextBox 18" id="18"/>
          <p:cNvSpPr txBox="true"/>
          <p:nvPr/>
        </p:nvSpPr>
        <p:spPr>
          <a:xfrm rot="0">
            <a:off x="10089812" y="1766499"/>
            <a:ext cx="6123600" cy="1039844"/>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Data  Sources</a:t>
            </a:r>
          </a:p>
        </p:txBody>
      </p:sp>
      <p:sp>
        <p:nvSpPr>
          <p:cNvPr name="TextBox 19" id="19"/>
          <p:cNvSpPr txBox="true"/>
          <p:nvPr/>
        </p:nvSpPr>
        <p:spPr>
          <a:xfrm rot="0">
            <a:off x="10771076" y="3137517"/>
            <a:ext cx="5517877" cy="44132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Poppins Medium"/>
                <a:ea typeface="Poppins Medium"/>
                <a:cs typeface="Poppins Medium"/>
                <a:sym typeface="Poppins Medium"/>
              </a:rPr>
              <a:t>HHS Protect</a:t>
            </a:r>
          </a:p>
        </p:txBody>
      </p:sp>
      <p:sp>
        <p:nvSpPr>
          <p:cNvPr name="TextBox 20" id="20"/>
          <p:cNvSpPr txBox="true"/>
          <p:nvPr/>
        </p:nvSpPr>
        <p:spPr>
          <a:xfrm rot="0">
            <a:off x="10771076" y="5331897"/>
            <a:ext cx="5517877" cy="44132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Poppins Medium"/>
                <a:ea typeface="Poppins Medium"/>
                <a:cs typeface="Poppins Medium"/>
                <a:sym typeface="Poppins Medium"/>
              </a:rPr>
              <a:t>US Census</a:t>
            </a:r>
          </a:p>
        </p:txBody>
      </p:sp>
      <p:sp>
        <p:nvSpPr>
          <p:cNvPr name="TextBox 21" id="21"/>
          <p:cNvSpPr txBox="true"/>
          <p:nvPr/>
        </p:nvSpPr>
        <p:spPr>
          <a:xfrm rot="0">
            <a:off x="10108521" y="3553172"/>
            <a:ext cx="6550438" cy="1482725"/>
          </a:xfrm>
          <a:prstGeom prst="rect">
            <a:avLst/>
          </a:prstGeom>
        </p:spPr>
        <p:txBody>
          <a:bodyPr anchor="t" rtlCol="false" tIns="0" lIns="0" bIns="0" rIns="0">
            <a:spAutoFit/>
          </a:bodyPr>
          <a:lstStyle/>
          <a:p>
            <a:pPr algn="l" marL="0" indent="0" lvl="0">
              <a:lnSpc>
                <a:spcPts val="4000"/>
              </a:lnSpc>
              <a:spcBef>
                <a:spcPct val="0"/>
              </a:spcBef>
            </a:pPr>
            <a:r>
              <a:rPr lang="en-US" sz="2000">
                <a:solidFill>
                  <a:srgbClr val="000000"/>
                </a:solidFill>
                <a:latin typeface="1883 Sans"/>
                <a:ea typeface="1883 Sans"/>
                <a:cs typeface="1883 Sans"/>
                <a:sym typeface="1883 Sans"/>
              </a:rPr>
              <a:t>HHS Pr</a:t>
            </a:r>
            <a:r>
              <a:rPr lang="en-US" sz="2000" strike="noStrike" u="none">
                <a:solidFill>
                  <a:srgbClr val="000000"/>
                </a:solidFill>
                <a:latin typeface="1883 Sans"/>
                <a:ea typeface="1883 Sans"/>
                <a:cs typeface="1883 Sans"/>
                <a:sym typeface="1883 Sans"/>
              </a:rPr>
              <a:t>o</a:t>
            </a:r>
            <a:r>
              <a:rPr lang="en-US" sz="2000" strike="noStrike" u="none">
                <a:solidFill>
                  <a:srgbClr val="000000"/>
                </a:solidFill>
                <a:latin typeface="1883 Sans"/>
                <a:ea typeface="1883 Sans"/>
                <a:cs typeface="1883 Sans"/>
                <a:sym typeface="1883 Sans"/>
              </a:rPr>
              <a:t>t</a:t>
            </a:r>
            <a:r>
              <a:rPr lang="en-US" sz="2000" strike="noStrike" u="none">
                <a:solidFill>
                  <a:srgbClr val="000000"/>
                </a:solidFill>
                <a:latin typeface="1883 Sans"/>
                <a:ea typeface="1883 Sans"/>
                <a:cs typeface="1883 Sans"/>
                <a:sym typeface="1883 Sans"/>
              </a:rPr>
              <a:t>e</a:t>
            </a:r>
            <a:r>
              <a:rPr lang="en-US" sz="2000" strike="noStrike" u="none">
                <a:solidFill>
                  <a:srgbClr val="000000"/>
                </a:solidFill>
                <a:latin typeface="1883 Sans"/>
                <a:ea typeface="1883 Sans"/>
                <a:cs typeface="1883 Sans"/>
                <a:sym typeface="1883 Sans"/>
              </a:rPr>
              <a:t>ct</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COVID</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h</a:t>
            </a:r>
            <a:r>
              <a:rPr lang="en-US" sz="2000" strike="noStrike" u="none">
                <a:solidFill>
                  <a:srgbClr val="000000"/>
                </a:solidFill>
                <a:latin typeface="1883 Sans"/>
                <a:ea typeface="1883 Sans"/>
                <a:cs typeface="1883 Sans"/>
                <a:sym typeface="1883 Sans"/>
              </a:rPr>
              <a:t>os</a:t>
            </a:r>
            <a:r>
              <a:rPr lang="en-US" sz="2000" strike="noStrike" u="none">
                <a:solidFill>
                  <a:srgbClr val="000000"/>
                </a:solidFill>
                <a:latin typeface="1883 Sans"/>
                <a:ea typeface="1883 Sans"/>
                <a:cs typeface="1883 Sans"/>
                <a:sym typeface="1883 Sans"/>
              </a:rPr>
              <a:t>p</a:t>
            </a:r>
            <a:r>
              <a:rPr lang="en-US" sz="2000" strike="noStrike" u="none">
                <a:solidFill>
                  <a:srgbClr val="000000"/>
                </a:solidFill>
                <a:latin typeface="1883 Sans"/>
                <a:ea typeface="1883 Sans"/>
                <a:cs typeface="1883 Sans"/>
                <a:sym typeface="1883 Sans"/>
              </a:rPr>
              <a:t>it</a:t>
            </a:r>
            <a:r>
              <a:rPr lang="en-US" sz="2000" strike="noStrike" u="none">
                <a:solidFill>
                  <a:srgbClr val="000000"/>
                </a:solidFill>
                <a:latin typeface="1883 Sans"/>
                <a:ea typeface="1883 Sans"/>
                <a:cs typeface="1883 Sans"/>
                <a:sym typeface="1883 Sans"/>
              </a:rPr>
              <a:t>aliz</a:t>
            </a:r>
            <a:r>
              <a:rPr lang="en-US" sz="2000" strike="noStrike" u="none">
                <a:solidFill>
                  <a:srgbClr val="000000"/>
                </a:solidFill>
                <a:latin typeface="1883 Sans"/>
                <a:ea typeface="1883 Sans"/>
                <a:cs typeface="1883 Sans"/>
                <a:sym typeface="1883 Sans"/>
              </a:rPr>
              <a:t>at</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on</a:t>
            </a:r>
            <a:r>
              <a:rPr lang="en-US" sz="2000" strike="noStrike" u="none">
                <a:solidFill>
                  <a:srgbClr val="000000"/>
                </a:solidFill>
                <a:latin typeface="1883 Sans"/>
                <a:ea typeface="1883 Sans"/>
                <a:cs typeface="1883 Sans"/>
                <a:sym typeface="1883 Sans"/>
              </a:rPr>
              <a:t> data</a:t>
            </a:r>
            <a:r>
              <a:rPr lang="en-US" sz="2000" strike="noStrike" u="none">
                <a:solidFill>
                  <a:srgbClr val="000000"/>
                </a:solidFill>
                <a:latin typeface="1883 Sans"/>
                <a:ea typeface="1883 Sans"/>
                <a:cs typeface="1883 Sans"/>
                <a:sym typeface="1883 Sans"/>
              </a:rPr>
              <a:t>set</a:t>
            </a:r>
            <a:r>
              <a:rPr lang="en-US" sz="2000" strike="noStrike" u="none">
                <a:solidFill>
                  <a:srgbClr val="000000"/>
                </a:solidFill>
                <a:latin typeface="1883 Sans"/>
                <a:ea typeface="1883 Sans"/>
                <a:cs typeface="1883 Sans"/>
                <a:sym typeface="1883 Sans"/>
              </a:rPr>
              <a:t> (h</a:t>
            </a:r>
            <a:r>
              <a:rPr lang="en-US" sz="2000" strike="noStrike" u="none">
                <a:solidFill>
                  <a:srgbClr val="000000"/>
                </a:solidFill>
                <a:latin typeface="1883 Sans"/>
                <a:ea typeface="1883 Sans"/>
                <a:cs typeface="1883 Sans"/>
                <a:sym typeface="1883 Sans"/>
              </a:rPr>
              <a:t>e</a:t>
            </a:r>
            <a:r>
              <a:rPr lang="en-US" sz="2000" strike="noStrike" u="none">
                <a:solidFill>
                  <a:srgbClr val="000000"/>
                </a:solidFill>
                <a:latin typeface="1883 Sans"/>
                <a:ea typeface="1883 Sans"/>
                <a:cs typeface="1883 Sans"/>
                <a:sym typeface="1883 Sans"/>
              </a:rPr>
              <a:t>a</a:t>
            </a:r>
            <a:r>
              <a:rPr lang="en-US" sz="2000" strike="noStrike" u="none">
                <a:solidFill>
                  <a:srgbClr val="000000"/>
                </a:solidFill>
                <a:latin typeface="1883 Sans"/>
                <a:ea typeface="1883 Sans"/>
                <a:cs typeface="1883 Sans"/>
                <a:sym typeface="1883 Sans"/>
              </a:rPr>
              <a:t>lt</a:t>
            </a:r>
            <a:r>
              <a:rPr lang="en-US" sz="2000" strike="noStrike" u="none">
                <a:solidFill>
                  <a:srgbClr val="000000"/>
                </a:solidFill>
                <a:latin typeface="1883 Sans"/>
                <a:ea typeface="1883 Sans"/>
                <a:cs typeface="1883 Sans"/>
                <a:sym typeface="1883 Sans"/>
              </a:rPr>
              <a:t>hd</a:t>
            </a:r>
            <a:r>
              <a:rPr lang="en-US" sz="2000" strike="noStrike" u="none">
                <a:solidFill>
                  <a:srgbClr val="000000"/>
                </a:solidFill>
                <a:latin typeface="1883 Sans"/>
                <a:ea typeface="1883 Sans"/>
                <a:cs typeface="1883 Sans"/>
                <a:sym typeface="1883 Sans"/>
              </a:rPr>
              <a:t>a</a:t>
            </a:r>
            <a:r>
              <a:rPr lang="en-US" sz="2000" strike="noStrike" u="none">
                <a:solidFill>
                  <a:srgbClr val="000000"/>
                </a:solidFill>
                <a:latin typeface="1883 Sans"/>
                <a:ea typeface="1883 Sans"/>
                <a:cs typeface="1883 Sans"/>
                <a:sym typeface="1883 Sans"/>
              </a:rPr>
              <a:t>t</a:t>
            </a:r>
            <a:r>
              <a:rPr lang="en-US" sz="2000" strike="noStrike" u="none">
                <a:solidFill>
                  <a:srgbClr val="000000"/>
                </a:solidFill>
                <a:latin typeface="1883 Sans"/>
                <a:ea typeface="1883 Sans"/>
                <a:cs typeface="1883 Sans"/>
                <a:sym typeface="1883 Sans"/>
              </a:rPr>
              <a:t>a</a:t>
            </a:r>
            <a:r>
              <a:rPr lang="en-US" sz="2000" strike="noStrike" u="none">
                <a:solidFill>
                  <a:srgbClr val="000000"/>
                </a:solidFill>
                <a:latin typeface="1883 Sans"/>
                <a:ea typeface="1883 Sans"/>
                <a:cs typeface="1883 Sans"/>
                <a:sym typeface="1883 Sans"/>
              </a:rPr>
              <a:t>.g</a:t>
            </a:r>
            <a:r>
              <a:rPr lang="en-US" sz="2000" strike="noStrike" u="none">
                <a:solidFill>
                  <a:srgbClr val="000000"/>
                </a:solidFill>
                <a:latin typeface="1883 Sans"/>
                <a:ea typeface="1883 Sans"/>
                <a:cs typeface="1883 Sans"/>
                <a:sym typeface="1883 Sans"/>
              </a:rPr>
              <a:t>o</a:t>
            </a:r>
            <a:r>
              <a:rPr lang="en-US" sz="2000" strike="noStrike" u="none">
                <a:solidFill>
                  <a:srgbClr val="000000"/>
                </a:solidFill>
                <a:latin typeface="1883 Sans"/>
                <a:ea typeface="1883 Sans"/>
                <a:cs typeface="1883 Sans"/>
                <a:sym typeface="1883 Sans"/>
              </a:rPr>
              <a:t>v)</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f</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l</a:t>
            </a:r>
            <a:r>
              <a:rPr lang="en-US" sz="2000" strike="noStrike" u="none">
                <a:solidFill>
                  <a:srgbClr val="000000"/>
                </a:solidFill>
                <a:latin typeface="1883 Sans"/>
                <a:ea typeface="1883 Sans"/>
                <a:cs typeface="1883 Sans"/>
                <a:sym typeface="1883 Sans"/>
              </a:rPr>
              <a:t>tered</a:t>
            </a:r>
            <a:r>
              <a:rPr lang="en-US" sz="2000" strike="noStrike" u="none">
                <a:solidFill>
                  <a:srgbClr val="000000"/>
                </a:solidFill>
                <a:latin typeface="1883 Sans"/>
                <a:ea typeface="1883 Sans"/>
                <a:cs typeface="1883 Sans"/>
                <a:sym typeface="1883 Sans"/>
              </a:rPr>
              <a:t> t</a:t>
            </a:r>
            <a:r>
              <a:rPr lang="en-US" sz="2000" strike="noStrike" u="none">
                <a:solidFill>
                  <a:srgbClr val="000000"/>
                </a:solidFill>
                <a:latin typeface="1883 Sans"/>
                <a:ea typeface="1883 Sans"/>
                <a:cs typeface="1883 Sans"/>
                <a:sym typeface="1883 Sans"/>
              </a:rPr>
              <a:t>o </a:t>
            </a:r>
            <a:r>
              <a:rPr lang="en-US" sz="2000" strike="noStrike" u="none">
                <a:solidFill>
                  <a:srgbClr val="000000"/>
                </a:solidFill>
                <a:latin typeface="1883 Sans"/>
                <a:ea typeface="1883 Sans"/>
                <a:cs typeface="1883 Sans"/>
                <a:sym typeface="1883 Sans"/>
              </a:rPr>
              <a:t>Da</a:t>
            </a:r>
            <a:r>
              <a:rPr lang="en-US" sz="2000" strike="noStrike" u="none">
                <a:solidFill>
                  <a:srgbClr val="000000"/>
                </a:solidFill>
                <a:latin typeface="1883 Sans"/>
                <a:ea typeface="1883 Sans"/>
                <a:cs typeface="1883 Sans"/>
                <a:sym typeface="1883 Sans"/>
              </a:rPr>
              <a:t>llas </a:t>
            </a:r>
            <a:r>
              <a:rPr lang="en-US" sz="2000" strike="noStrike" u="none">
                <a:solidFill>
                  <a:srgbClr val="000000"/>
                </a:solidFill>
                <a:latin typeface="1883 Sans"/>
                <a:ea typeface="1883 Sans"/>
                <a:cs typeface="1883 Sans"/>
                <a:sym typeface="1883 Sans"/>
              </a:rPr>
              <a:t>C</a:t>
            </a:r>
            <a:r>
              <a:rPr lang="en-US" sz="2000" strike="noStrike" u="none">
                <a:solidFill>
                  <a:srgbClr val="000000"/>
                </a:solidFill>
                <a:latin typeface="1883 Sans"/>
                <a:ea typeface="1883 Sans"/>
                <a:cs typeface="1883 Sans"/>
                <a:sym typeface="1883 Sans"/>
              </a:rPr>
              <a:t>oun</a:t>
            </a:r>
            <a:r>
              <a:rPr lang="en-US" sz="2000" strike="noStrike" u="none">
                <a:solidFill>
                  <a:srgbClr val="000000"/>
                </a:solidFill>
                <a:latin typeface="1883 Sans"/>
                <a:ea typeface="1883 Sans"/>
                <a:cs typeface="1883 Sans"/>
                <a:sym typeface="1883 Sans"/>
              </a:rPr>
              <a:t>ty,</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TX</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(FIP</a:t>
            </a:r>
            <a:r>
              <a:rPr lang="en-US" sz="2000" strike="noStrike" u="none">
                <a:solidFill>
                  <a:srgbClr val="000000"/>
                </a:solidFill>
                <a:latin typeface="1883 Sans"/>
                <a:ea typeface="1883 Sans"/>
                <a:cs typeface="1883 Sans"/>
                <a:sym typeface="1883 Sans"/>
              </a:rPr>
              <a:t>S</a:t>
            </a:r>
            <a:r>
              <a:rPr lang="en-US" sz="2000" strike="noStrike" u="none">
                <a:solidFill>
                  <a:srgbClr val="000000"/>
                </a:solidFill>
                <a:latin typeface="1883 Sans"/>
                <a:ea typeface="1883 Sans"/>
                <a:cs typeface="1883 Sans"/>
                <a:sym typeface="1883 Sans"/>
              </a:rPr>
              <a:t>: 48113)</a:t>
            </a:r>
          </a:p>
        </p:txBody>
      </p:sp>
      <p:grpSp>
        <p:nvGrpSpPr>
          <p:cNvPr name="Group 22" id="22"/>
          <p:cNvGrpSpPr/>
          <p:nvPr/>
        </p:nvGrpSpPr>
        <p:grpSpPr>
          <a:xfrm rot="0">
            <a:off x="10108521" y="6999153"/>
            <a:ext cx="377329" cy="37732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F64B7">
                    <a:alpha val="100000"/>
                  </a:srgbClr>
                </a:gs>
                <a:gs pos="100000">
                  <a:srgbClr val="6ACBC6">
                    <a:alpha val="100000"/>
                  </a:srgbClr>
                </a:gs>
              </a:gsLst>
              <a:lin ang="2700000"/>
            </a:gra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TextBox 25" id="25"/>
          <p:cNvSpPr txBox="true"/>
          <p:nvPr/>
        </p:nvSpPr>
        <p:spPr>
          <a:xfrm rot="0">
            <a:off x="10771076" y="6932478"/>
            <a:ext cx="5517877" cy="44132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Poppins Medium"/>
                <a:ea typeface="Poppins Medium"/>
                <a:cs typeface="Poppins Medium"/>
                <a:sym typeface="Poppins Medium"/>
              </a:rPr>
              <a:t>CDC Covid Data API</a:t>
            </a:r>
          </a:p>
        </p:txBody>
      </p:sp>
      <p:sp>
        <p:nvSpPr>
          <p:cNvPr name="TextBox 26" id="26"/>
          <p:cNvSpPr txBox="true"/>
          <p:nvPr/>
        </p:nvSpPr>
        <p:spPr>
          <a:xfrm rot="0">
            <a:off x="10108521" y="5747326"/>
            <a:ext cx="6550438" cy="977900"/>
          </a:xfrm>
          <a:prstGeom prst="rect">
            <a:avLst/>
          </a:prstGeom>
        </p:spPr>
        <p:txBody>
          <a:bodyPr anchor="t" rtlCol="false" tIns="0" lIns="0" bIns="0" rIns="0">
            <a:spAutoFit/>
          </a:bodyPr>
          <a:lstStyle/>
          <a:p>
            <a:pPr algn="l" marL="0" indent="0" lvl="0">
              <a:lnSpc>
                <a:spcPts val="4000"/>
              </a:lnSpc>
              <a:spcBef>
                <a:spcPct val="0"/>
              </a:spcBef>
            </a:pPr>
            <a:r>
              <a:rPr lang="en-US" sz="2000">
                <a:solidFill>
                  <a:srgbClr val="000000"/>
                </a:solidFill>
                <a:latin typeface="1883 Sans"/>
                <a:ea typeface="1883 Sans"/>
                <a:cs typeface="1883 Sans"/>
                <a:sym typeface="1883 Sans"/>
              </a:rPr>
              <a:t>P</a:t>
            </a:r>
            <a:r>
              <a:rPr lang="en-US" sz="2000" strike="noStrike" u="none">
                <a:solidFill>
                  <a:srgbClr val="000000"/>
                </a:solidFill>
                <a:latin typeface="1883 Sans"/>
                <a:ea typeface="1883 Sans"/>
                <a:cs typeface="1883 Sans"/>
                <a:sym typeface="1883 Sans"/>
              </a:rPr>
              <a:t>op</a:t>
            </a:r>
            <a:r>
              <a:rPr lang="en-US" sz="2000" strike="noStrike" u="none">
                <a:solidFill>
                  <a:srgbClr val="000000"/>
                </a:solidFill>
                <a:latin typeface="1883 Sans"/>
                <a:ea typeface="1883 Sans"/>
                <a:cs typeface="1883 Sans"/>
                <a:sym typeface="1883 Sans"/>
              </a:rPr>
              <a:t>u</a:t>
            </a:r>
            <a:r>
              <a:rPr lang="en-US" sz="2000" strike="noStrike" u="none">
                <a:solidFill>
                  <a:srgbClr val="000000"/>
                </a:solidFill>
                <a:latin typeface="1883 Sans"/>
                <a:ea typeface="1883 Sans"/>
                <a:cs typeface="1883 Sans"/>
                <a:sym typeface="1883 Sans"/>
              </a:rPr>
              <a:t>lation denominator: Dallas County</a:t>
            </a:r>
            <a:r>
              <a:rPr lang="en-US" sz="2000" strike="noStrike" u="none">
                <a:solidFill>
                  <a:srgbClr val="000000"/>
                </a:solidFill>
                <a:latin typeface="1883 Sans"/>
                <a:ea typeface="1883 Sans"/>
                <a:cs typeface="1883 Sans"/>
                <a:sym typeface="1883 Sans"/>
              </a:rPr>
              <a:t> population of 2</a:t>
            </a:r>
            <a:r>
              <a:rPr lang="en-US" sz="2000" strike="noStrike" u="none">
                <a:solidFill>
                  <a:srgbClr val="000000"/>
                </a:solidFill>
                <a:latin typeface="1883 Sans"/>
                <a:ea typeface="1883 Sans"/>
                <a:cs typeface="1883 Sans"/>
                <a:sym typeface="1883 Sans"/>
              </a:rPr>
              <a:t>,</a:t>
            </a:r>
            <a:r>
              <a:rPr lang="en-US" sz="2000" strike="noStrike" u="none">
                <a:solidFill>
                  <a:srgbClr val="000000"/>
                </a:solidFill>
                <a:latin typeface="1883 Sans"/>
                <a:ea typeface="1883 Sans"/>
                <a:cs typeface="1883 Sans"/>
                <a:sym typeface="1883 Sans"/>
              </a:rPr>
              <a:t>613,539</a:t>
            </a:r>
          </a:p>
        </p:txBody>
      </p:sp>
      <p:sp>
        <p:nvSpPr>
          <p:cNvPr name="TextBox 27" id="27"/>
          <p:cNvSpPr txBox="true"/>
          <p:nvPr/>
        </p:nvSpPr>
        <p:spPr>
          <a:xfrm rot="0">
            <a:off x="10108521" y="7408233"/>
            <a:ext cx="6550438" cy="977900"/>
          </a:xfrm>
          <a:prstGeom prst="rect">
            <a:avLst/>
          </a:prstGeom>
        </p:spPr>
        <p:txBody>
          <a:bodyPr anchor="t" rtlCol="false" tIns="0" lIns="0" bIns="0" rIns="0">
            <a:spAutoFit/>
          </a:bodyPr>
          <a:lstStyle/>
          <a:p>
            <a:pPr algn="l" marL="0" indent="0" lvl="0">
              <a:lnSpc>
                <a:spcPts val="4000"/>
              </a:lnSpc>
              <a:spcBef>
                <a:spcPct val="0"/>
              </a:spcBef>
            </a:pPr>
            <a:r>
              <a:rPr lang="en-US" sz="2000" strike="noStrike" u="none">
                <a:solidFill>
                  <a:srgbClr val="000000"/>
                </a:solidFill>
                <a:latin typeface="1883 Sans"/>
                <a:ea typeface="1883 Sans"/>
                <a:cs typeface="1883 Sans"/>
                <a:sym typeface="1883 Sans"/>
              </a:rPr>
              <a:t>Va</a:t>
            </a:r>
            <a:r>
              <a:rPr lang="en-US" sz="2000" strike="noStrike" u="none">
                <a:solidFill>
                  <a:srgbClr val="000000"/>
                </a:solidFill>
                <a:latin typeface="1883 Sans"/>
                <a:ea typeface="1883 Sans"/>
                <a:cs typeface="1883 Sans"/>
                <a:sym typeface="1883 Sans"/>
              </a:rPr>
              <a:t>cc</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n</a:t>
            </a:r>
            <a:r>
              <a:rPr lang="en-US" sz="2000" strike="noStrike" u="none">
                <a:solidFill>
                  <a:srgbClr val="000000"/>
                </a:solidFill>
                <a:latin typeface="1883 Sans"/>
                <a:ea typeface="1883 Sans"/>
                <a:cs typeface="1883 Sans"/>
                <a:sym typeface="1883 Sans"/>
              </a:rPr>
              <a:t>ation data</a:t>
            </a:r>
            <a:r>
              <a:rPr lang="en-US" sz="2000" strike="noStrike" u="none">
                <a:solidFill>
                  <a:srgbClr val="000000"/>
                </a:solidFill>
                <a:latin typeface="1883 Sans"/>
                <a:ea typeface="1883 Sans"/>
                <a:cs typeface="1883 Sans"/>
                <a:sym typeface="1883 Sans"/>
              </a:rPr>
              <a:t>: CDC API. S</a:t>
            </a:r>
            <a:r>
              <a:rPr lang="en-US" sz="2000" strike="noStrike" u="none">
                <a:solidFill>
                  <a:srgbClr val="000000"/>
                </a:solidFill>
                <a:latin typeface="1883 Sans"/>
                <a:ea typeface="1883 Sans"/>
                <a:cs typeface="1883 Sans"/>
                <a:sym typeface="1883 Sans"/>
              </a:rPr>
              <a:t>eries completion </a:t>
            </a:r>
            <a:r>
              <a:rPr lang="en-US" sz="2000" strike="noStrike" u="none">
                <a:solidFill>
                  <a:srgbClr val="000000"/>
                </a:solidFill>
                <a:latin typeface="1883 Sans"/>
                <a:ea typeface="1883 Sans"/>
                <a:cs typeface="1883 Sans"/>
                <a:sym typeface="1883 Sans"/>
              </a:rPr>
              <a:t>p</a:t>
            </a:r>
            <a:r>
              <a:rPr lang="en-US" sz="2000" strike="noStrike" u="none">
                <a:solidFill>
                  <a:srgbClr val="000000"/>
                </a:solidFill>
                <a:latin typeface="1883 Sans"/>
                <a:ea typeface="1883 Sans"/>
                <a:cs typeface="1883 Sans"/>
                <a:sym typeface="1883 Sans"/>
              </a:rPr>
              <a:t>ercentag</a:t>
            </a:r>
            <a:r>
              <a:rPr lang="en-US" sz="2000" strike="noStrike" u="none">
                <a:solidFill>
                  <a:srgbClr val="000000"/>
                </a:solidFill>
                <a:latin typeface="1883 Sans"/>
                <a:ea typeface="1883 Sans"/>
                <a:cs typeface="1883 Sans"/>
                <a:sym typeface="1883 Sans"/>
              </a:rPr>
              <a:t>e by FIPS</a:t>
            </a:r>
            <a:r>
              <a:rPr lang="en-US" sz="2000" strike="noStrike" u="none">
                <a:solidFill>
                  <a:srgbClr val="000000"/>
                </a:solidFill>
                <a:latin typeface="1883 Sans"/>
                <a:ea typeface="1883 Sans"/>
                <a:cs typeface="1883 Sans"/>
                <a:sym typeface="1883 Sans"/>
              </a:rPr>
              <a:t>, f</a:t>
            </a:r>
            <a:r>
              <a:rPr lang="en-US" sz="2000" strike="noStrike" u="none">
                <a:solidFill>
                  <a:srgbClr val="000000"/>
                </a:solidFill>
                <a:latin typeface="1883 Sans"/>
                <a:ea typeface="1883 Sans"/>
                <a:cs typeface="1883 Sans"/>
                <a:sym typeface="1883 Sans"/>
              </a:rPr>
              <a:t>orward-f</a:t>
            </a:r>
            <a:r>
              <a:rPr lang="en-US" sz="2000" strike="noStrike" u="none">
                <a:solidFill>
                  <a:srgbClr val="000000"/>
                </a:solidFill>
                <a:latin typeface="1883 Sans"/>
                <a:ea typeface="1883 Sans"/>
                <a:cs typeface="1883 Sans"/>
                <a:sym typeface="1883 Sans"/>
              </a:rPr>
              <a:t>il</a:t>
            </a:r>
            <a:r>
              <a:rPr lang="en-US" sz="2000" strike="noStrike" u="none">
                <a:solidFill>
                  <a:srgbClr val="000000"/>
                </a:solidFill>
                <a:latin typeface="1883 Sans"/>
                <a:ea typeface="1883 Sans"/>
                <a:cs typeface="1883 Sans"/>
                <a:sym typeface="1883 Sans"/>
              </a:rPr>
              <a:t>led we</a:t>
            </a:r>
            <a:r>
              <a:rPr lang="en-US" sz="2000" strike="noStrike" u="none">
                <a:solidFill>
                  <a:srgbClr val="000000"/>
                </a:solidFill>
                <a:latin typeface="1883 Sans"/>
                <a:ea typeface="1883 Sans"/>
                <a:cs typeface="1883 Sans"/>
                <a:sym typeface="1883 Sans"/>
              </a:rPr>
              <a:t>ekly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400000">
            <a:off x="291817" y="7536927"/>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5400000">
            <a:off x="15815221" y="2863420"/>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5576852" y="8199055"/>
            <a:ext cx="5422296" cy="542229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47700" cap="sq">
              <a:gradFill>
                <a:gsLst>
                  <a:gs pos="0">
                    <a:srgbClr val="1F64B7">
                      <a:alpha val="100000"/>
                    </a:srgbClr>
                  </a:gs>
                  <a:gs pos="100000">
                    <a:srgbClr val="6ACBC6">
                      <a:alpha val="100000"/>
                    </a:srgbClr>
                  </a:gs>
                </a:gsLst>
                <a:lin ang="270000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4818444" y="1286742"/>
            <a:ext cx="8651113" cy="1032306"/>
          </a:xfrm>
          <a:prstGeom prst="rect">
            <a:avLst/>
          </a:prstGeom>
        </p:spPr>
        <p:txBody>
          <a:bodyPr anchor="t" rtlCol="false" tIns="0" lIns="0" bIns="0" rIns="0">
            <a:spAutoFit/>
          </a:bodyPr>
          <a:lstStyle/>
          <a:p>
            <a:pPr algn="ctr">
              <a:lnSpc>
                <a:spcPts val="7937"/>
              </a:lnSpc>
            </a:pPr>
            <a:r>
              <a:rPr lang="en-US" sz="6013">
                <a:solidFill>
                  <a:srgbClr val="000000"/>
                </a:solidFill>
                <a:latin typeface="Poppins"/>
                <a:ea typeface="Poppins"/>
                <a:cs typeface="Poppins"/>
                <a:sym typeface="Poppins"/>
              </a:rPr>
              <a:t>Model Overview</a:t>
            </a:r>
          </a:p>
        </p:txBody>
      </p:sp>
      <p:sp>
        <p:nvSpPr>
          <p:cNvPr name="TextBox 14" id="14"/>
          <p:cNvSpPr txBox="true"/>
          <p:nvPr/>
        </p:nvSpPr>
        <p:spPr>
          <a:xfrm rot="0">
            <a:off x="9141618" y="4235949"/>
            <a:ext cx="6310090" cy="977900"/>
          </a:xfrm>
          <a:prstGeom prst="rect">
            <a:avLst/>
          </a:prstGeom>
        </p:spPr>
        <p:txBody>
          <a:bodyPr anchor="t" rtlCol="false" tIns="0" lIns="0" bIns="0" rIns="0">
            <a:spAutoFit/>
          </a:bodyPr>
          <a:lstStyle/>
          <a:p>
            <a:pPr algn="l">
              <a:lnSpc>
                <a:spcPts val="4000"/>
              </a:lnSpc>
            </a:pPr>
            <a:r>
              <a:rPr lang="en-US" sz="2000">
                <a:solidFill>
                  <a:srgbClr val="000000"/>
                </a:solidFill>
                <a:latin typeface="1883 Sans"/>
                <a:ea typeface="1883 Sans"/>
                <a:cs typeface="1883 Sans"/>
                <a:sym typeface="1883 Sans"/>
              </a:rPr>
              <a:t>T</a:t>
            </a:r>
            <a:r>
              <a:rPr lang="en-US" sz="2000" strike="noStrike" u="none">
                <a:solidFill>
                  <a:srgbClr val="000000"/>
                </a:solidFill>
                <a:latin typeface="1883 Sans"/>
                <a:ea typeface="1883 Sans"/>
                <a:cs typeface="1883 Sans"/>
                <a:sym typeface="1883 Sans"/>
              </a:rPr>
              <a:t>rained on SEIR residuals, incorporating lagged case counts</a:t>
            </a:r>
          </a:p>
        </p:txBody>
      </p:sp>
      <p:sp>
        <p:nvSpPr>
          <p:cNvPr name="TextBox 15" id="15"/>
          <p:cNvSpPr txBox="true"/>
          <p:nvPr/>
        </p:nvSpPr>
        <p:spPr>
          <a:xfrm rot="0">
            <a:off x="2378776" y="3757426"/>
            <a:ext cx="6765224" cy="441325"/>
          </a:xfrm>
          <a:prstGeom prst="rect">
            <a:avLst/>
          </a:prstGeom>
        </p:spPr>
        <p:txBody>
          <a:bodyPr anchor="t" rtlCol="false" tIns="0" lIns="0" bIns="0" rIns="0">
            <a:spAutoFit/>
          </a:bodyPr>
          <a:lstStyle/>
          <a:p>
            <a:pPr algn="just">
              <a:lnSpc>
                <a:spcPts val="3499"/>
              </a:lnSpc>
            </a:pPr>
            <a:r>
              <a:rPr lang="en-US" b="true" sz="2499">
                <a:solidFill>
                  <a:srgbClr val="000000"/>
                </a:solidFill>
                <a:latin typeface="Poppins Medium"/>
                <a:ea typeface="Poppins Medium"/>
                <a:cs typeface="Poppins Medium"/>
                <a:sym typeface="Poppins Medium"/>
              </a:rPr>
              <a:t>SEIR Model</a:t>
            </a:r>
          </a:p>
        </p:txBody>
      </p:sp>
      <p:sp>
        <p:nvSpPr>
          <p:cNvPr name="TextBox 16" id="16"/>
          <p:cNvSpPr txBox="true"/>
          <p:nvPr/>
        </p:nvSpPr>
        <p:spPr>
          <a:xfrm rot="0">
            <a:off x="2378776" y="4298102"/>
            <a:ext cx="6310090" cy="977900"/>
          </a:xfrm>
          <a:prstGeom prst="rect">
            <a:avLst/>
          </a:prstGeom>
        </p:spPr>
        <p:txBody>
          <a:bodyPr anchor="t" rtlCol="false" tIns="0" lIns="0" bIns="0" rIns="0">
            <a:spAutoFit/>
          </a:bodyPr>
          <a:lstStyle/>
          <a:p>
            <a:pPr algn="l">
              <a:lnSpc>
                <a:spcPts val="4000"/>
              </a:lnSpc>
            </a:pPr>
            <a:r>
              <a:rPr lang="en-US" sz="2000">
                <a:solidFill>
                  <a:srgbClr val="000000"/>
                </a:solidFill>
                <a:latin typeface="1883 Sans"/>
                <a:ea typeface="1883 Sans"/>
                <a:cs typeface="1883 Sans"/>
                <a:sym typeface="1883 Sans"/>
              </a:rPr>
              <a:t>Pr</a:t>
            </a:r>
            <a:r>
              <a:rPr lang="en-US" sz="2000" strike="noStrike" u="none">
                <a:solidFill>
                  <a:srgbClr val="000000"/>
                </a:solidFill>
                <a:latin typeface="1883 Sans"/>
                <a:ea typeface="1883 Sans"/>
                <a:cs typeface="1883 Sans"/>
                <a:sym typeface="1883 Sans"/>
              </a:rPr>
              <a:t>o</a:t>
            </a:r>
            <a:r>
              <a:rPr lang="en-US" sz="2000" strike="noStrike" u="none">
                <a:solidFill>
                  <a:srgbClr val="000000"/>
                </a:solidFill>
                <a:latin typeface="1883 Sans"/>
                <a:ea typeface="1883 Sans"/>
                <a:cs typeface="1883 Sans"/>
                <a:sym typeface="1883 Sans"/>
              </a:rPr>
              <a:t>duc</a:t>
            </a:r>
            <a:r>
              <a:rPr lang="en-US" sz="2000" strike="noStrike" u="none">
                <a:solidFill>
                  <a:srgbClr val="000000"/>
                </a:solidFill>
                <a:latin typeface="1883 Sans"/>
                <a:ea typeface="1883 Sans"/>
                <a:cs typeface="1883 Sans"/>
                <a:sym typeface="1883 Sans"/>
              </a:rPr>
              <a:t>es </a:t>
            </a:r>
            <a:r>
              <a:rPr lang="en-US" sz="2000" strike="noStrike" u="none">
                <a:solidFill>
                  <a:srgbClr val="000000"/>
                </a:solidFill>
                <a:latin typeface="1883 Sans"/>
                <a:ea typeface="1883 Sans"/>
                <a:cs typeface="1883 Sans"/>
                <a:sym typeface="1883 Sans"/>
              </a:rPr>
              <a:t>a bi</a:t>
            </a:r>
            <a:r>
              <a:rPr lang="en-US" sz="2000" strike="noStrike" u="none">
                <a:solidFill>
                  <a:srgbClr val="000000"/>
                </a:solidFill>
                <a:latin typeface="1883 Sans"/>
                <a:ea typeface="1883 Sans"/>
                <a:cs typeface="1883 Sans"/>
                <a:sym typeface="1883 Sans"/>
              </a:rPr>
              <a:t>olo</a:t>
            </a:r>
            <a:r>
              <a:rPr lang="en-US" sz="2000" strike="noStrike" u="none">
                <a:solidFill>
                  <a:srgbClr val="000000"/>
                </a:solidFill>
                <a:latin typeface="1883 Sans"/>
                <a:ea typeface="1883 Sans"/>
                <a:cs typeface="1883 Sans"/>
                <a:sym typeface="1883 Sans"/>
              </a:rPr>
              <a:t>g</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c</a:t>
            </a:r>
            <a:r>
              <a:rPr lang="en-US" sz="2000" strike="noStrike" u="none">
                <a:solidFill>
                  <a:srgbClr val="000000"/>
                </a:solidFill>
                <a:latin typeface="1883 Sans"/>
                <a:ea typeface="1883 Sans"/>
                <a:cs typeface="1883 Sans"/>
                <a:sym typeface="1883 Sans"/>
              </a:rPr>
              <a:t>a</a:t>
            </a:r>
            <a:r>
              <a:rPr lang="en-US" sz="2000" strike="noStrike" u="none">
                <a:solidFill>
                  <a:srgbClr val="000000"/>
                </a:solidFill>
                <a:latin typeface="1883 Sans"/>
                <a:ea typeface="1883 Sans"/>
                <a:cs typeface="1883 Sans"/>
                <a:sym typeface="1883 Sans"/>
              </a:rPr>
              <a:t>lly</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gr</a:t>
            </a:r>
            <a:r>
              <a:rPr lang="en-US" sz="2000" strike="noStrike" u="none">
                <a:solidFill>
                  <a:srgbClr val="000000"/>
                </a:solidFill>
                <a:latin typeface="1883 Sans"/>
                <a:ea typeface="1883 Sans"/>
                <a:cs typeface="1883 Sans"/>
                <a:sym typeface="1883 Sans"/>
              </a:rPr>
              <a:t>o</a:t>
            </a:r>
            <a:r>
              <a:rPr lang="en-US" sz="2000" strike="noStrike" u="none">
                <a:solidFill>
                  <a:srgbClr val="000000"/>
                </a:solidFill>
                <a:latin typeface="1883 Sans"/>
                <a:ea typeface="1883 Sans"/>
                <a:cs typeface="1883 Sans"/>
                <a:sym typeface="1883 Sans"/>
              </a:rPr>
              <a:t>u</a:t>
            </a:r>
            <a:r>
              <a:rPr lang="en-US" sz="2000" strike="noStrike" u="none">
                <a:solidFill>
                  <a:srgbClr val="000000"/>
                </a:solidFill>
                <a:latin typeface="1883 Sans"/>
                <a:ea typeface="1883 Sans"/>
                <a:cs typeface="1883 Sans"/>
                <a:sym typeface="1883 Sans"/>
              </a:rPr>
              <a:t>n</a:t>
            </a:r>
            <a:r>
              <a:rPr lang="en-US" sz="2000" strike="noStrike" u="none">
                <a:solidFill>
                  <a:srgbClr val="000000"/>
                </a:solidFill>
                <a:latin typeface="1883 Sans"/>
                <a:ea typeface="1883 Sans"/>
                <a:cs typeface="1883 Sans"/>
                <a:sym typeface="1883 Sans"/>
              </a:rPr>
              <a:t>d</a:t>
            </a:r>
            <a:r>
              <a:rPr lang="en-US" sz="2000" strike="noStrike" u="none">
                <a:solidFill>
                  <a:srgbClr val="000000"/>
                </a:solidFill>
                <a:latin typeface="1883 Sans"/>
                <a:ea typeface="1883 Sans"/>
                <a:cs typeface="1883 Sans"/>
                <a:sym typeface="1883 Sans"/>
              </a:rPr>
              <a:t>e</a:t>
            </a:r>
            <a:r>
              <a:rPr lang="en-US" sz="2000" strike="noStrike" u="none">
                <a:solidFill>
                  <a:srgbClr val="000000"/>
                </a:solidFill>
                <a:latin typeface="1883 Sans"/>
                <a:ea typeface="1883 Sans"/>
                <a:cs typeface="1883 Sans"/>
                <a:sym typeface="1883 Sans"/>
              </a:rPr>
              <a:t>d fo</a:t>
            </a:r>
            <a:r>
              <a:rPr lang="en-US" sz="2000" strike="noStrike" u="none">
                <a:solidFill>
                  <a:srgbClr val="000000"/>
                </a:solidFill>
                <a:latin typeface="1883 Sans"/>
                <a:ea typeface="1883 Sans"/>
                <a:cs typeface="1883 Sans"/>
                <a:sym typeface="1883 Sans"/>
              </a:rPr>
              <a:t>re</a:t>
            </a:r>
            <a:r>
              <a:rPr lang="en-US" sz="2000" strike="noStrike" u="none">
                <a:solidFill>
                  <a:srgbClr val="000000"/>
                </a:solidFill>
                <a:latin typeface="1883 Sans"/>
                <a:ea typeface="1883 Sans"/>
                <a:cs typeface="1883 Sans"/>
                <a:sym typeface="1883 Sans"/>
              </a:rPr>
              <a:t>c</a:t>
            </a:r>
            <a:r>
              <a:rPr lang="en-US" sz="2000" strike="noStrike" u="none">
                <a:solidFill>
                  <a:srgbClr val="000000"/>
                </a:solidFill>
                <a:latin typeface="1883 Sans"/>
                <a:ea typeface="1883 Sans"/>
                <a:cs typeface="1883 Sans"/>
                <a:sym typeface="1883 Sans"/>
              </a:rPr>
              <a:t>as</a:t>
            </a:r>
            <a:r>
              <a:rPr lang="en-US" sz="2000" strike="noStrike" u="none">
                <a:solidFill>
                  <a:srgbClr val="000000"/>
                </a:solidFill>
                <a:latin typeface="1883 Sans"/>
                <a:ea typeface="1883 Sans"/>
                <a:cs typeface="1883 Sans"/>
                <a:sym typeface="1883 Sans"/>
              </a:rPr>
              <a:t>t</a:t>
            </a:r>
            <a:r>
              <a:rPr lang="en-US" sz="2000" strike="noStrike" u="none">
                <a:solidFill>
                  <a:srgbClr val="000000"/>
                </a:solidFill>
                <a:latin typeface="1883 Sans"/>
                <a:ea typeface="1883 Sans"/>
                <a:cs typeface="1883 Sans"/>
                <a:sym typeface="1883 Sans"/>
              </a:rPr>
              <a:t> o</a:t>
            </a:r>
            <a:r>
              <a:rPr lang="en-US" sz="2000" strike="noStrike" u="none">
                <a:solidFill>
                  <a:srgbClr val="000000"/>
                </a:solidFill>
                <a:latin typeface="1883 Sans"/>
                <a:ea typeface="1883 Sans"/>
                <a:cs typeface="1883 Sans"/>
                <a:sym typeface="1883 Sans"/>
              </a:rPr>
              <a:t>f</a:t>
            </a:r>
            <a:r>
              <a:rPr lang="en-US" sz="2000" strike="noStrike" u="none">
                <a:solidFill>
                  <a:srgbClr val="000000"/>
                </a:solidFill>
                <a:latin typeface="1883 Sans"/>
                <a:ea typeface="1883 Sans"/>
                <a:cs typeface="1883 Sans"/>
                <a:sym typeface="1883 Sans"/>
              </a:rPr>
              <a:t> in</a:t>
            </a:r>
            <a:r>
              <a:rPr lang="en-US" sz="2000" strike="noStrike" u="none">
                <a:solidFill>
                  <a:srgbClr val="000000"/>
                </a:solidFill>
                <a:latin typeface="1883 Sans"/>
                <a:ea typeface="1883 Sans"/>
                <a:cs typeface="1883 Sans"/>
                <a:sym typeface="1883 Sans"/>
              </a:rPr>
              <a:t>fe</a:t>
            </a:r>
            <a:r>
              <a:rPr lang="en-US" sz="2000" strike="noStrike" u="none">
                <a:solidFill>
                  <a:srgbClr val="000000"/>
                </a:solidFill>
                <a:latin typeface="1883 Sans"/>
                <a:ea typeface="1883 Sans"/>
                <a:cs typeface="1883 Sans"/>
                <a:sym typeface="1883 Sans"/>
              </a:rPr>
              <a:t>c</a:t>
            </a:r>
            <a:r>
              <a:rPr lang="en-US" sz="2000" strike="noStrike" u="none">
                <a:solidFill>
                  <a:srgbClr val="000000"/>
                </a:solidFill>
                <a:latin typeface="1883 Sans"/>
                <a:ea typeface="1883 Sans"/>
                <a:cs typeface="1883 Sans"/>
                <a:sym typeface="1883 Sans"/>
              </a:rPr>
              <a:t>t</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o</a:t>
            </a:r>
            <a:r>
              <a:rPr lang="en-US" sz="2000" strike="noStrike" u="none">
                <a:solidFill>
                  <a:srgbClr val="000000"/>
                </a:solidFill>
                <a:latin typeface="1883 Sans"/>
                <a:ea typeface="1883 Sans"/>
                <a:cs typeface="1883 Sans"/>
                <a:sym typeface="1883 Sans"/>
              </a:rPr>
              <a:t>u</a:t>
            </a:r>
            <a:r>
              <a:rPr lang="en-US" sz="2000" strike="noStrike" u="none">
                <a:solidFill>
                  <a:srgbClr val="000000"/>
                </a:solidFill>
                <a:latin typeface="1883 Sans"/>
                <a:ea typeface="1883 Sans"/>
                <a:cs typeface="1883 Sans"/>
                <a:sym typeface="1883 Sans"/>
              </a:rPr>
              <a:t>s</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n</a:t>
            </a:r>
            <a:r>
              <a:rPr lang="en-US" sz="2000" strike="noStrike" u="none">
                <a:solidFill>
                  <a:srgbClr val="000000"/>
                </a:solidFill>
                <a:latin typeface="1883 Sans"/>
                <a:ea typeface="1883 Sans"/>
                <a:cs typeface="1883 Sans"/>
                <a:sym typeface="1883 Sans"/>
              </a:rPr>
              <a:t>d</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v</a:t>
            </a:r>
            <a:r>
              <a:rPr lang="en-US" sz="2000" strike="noStrike" u="none">
                <a:solidFill>
                  <a:srgbClr val="000000"/>
                </a:solidFill>
                <a:latin typeface="1883 Sans"/>
                <a:ea typeface="1883 Sans"/>
                <a:cs typeface="1883 Sans"/>
                <a:sym typeface="1883 Sans"/>
              </a:rPr>
              <a:t>i</a:t>
            </a:r>
            <a:r>
              <a:rPr lang="en-US" sz="2000" strike="noStrike" u="none">
                <a:solidFill>
                  <a:srgbClr val="000000"/>
                </a:solidFill>
                <a:latin typeface="1883 Sans"/>
                <a:ea typeface="1883 Sans"/>
                <a:cs typeface="1883 Sans"/>
                <a:sym typeface="1883 Sans"/>
              </a:rPr>
              <a:t>d</a:t>
            </a:r>
            <a:r>
              <a:rPr lang="en-US" sz="2000" strike="noStrike" u="none">
                <a:solidFill>
                  <a:srgbClr val="000000"/>
                </a:solidFill>
                <a:latin typeface="1883 Sans"/>
                <a:ea typeface="1883 Sans"/>
                <a:cs typeface="1883 Sans"/>
                <a:sym typeface="1883 Sans"/>
              </a:rPr>
              <a:t>u</a:t>
            </a:r>
            <a:r>
              <a:rPr lang="en-US" sz="2000" strike="noStrike" u="none">
                <a:solidFill>
                  <a:srgbClr val="000000"/>
                </a:solidFill>
                <a:latin typeface="1883 Sans"/>
                <a:ea typeface="1883 Sans"/>
                <a:cs typeface="1883 Sans"/>
                <a:sym typeface="1883 Sans"/>
              </a:rPr>
              <a:t>a</a:t>
            </a:r>
            <a:r>
              <a:rPr lang="en-US" sz="2000" strike="noStrike" u="none">
                <a:solidFill>
                  <a:srgbClr val="000000"/>
                </a:solidFill>
                <a:latin typeface="1883 Sans"/>
                <a:ea typeface="1883 Sans"/>
                <a:cs typeface="1883 Sans"/>
                <a:sym typeface="1883 Sans"/>
              </a:rPr>
              <a:t>ls</a:t>
            </a:r>
            <a:r>
              <a:rPr lang="en-US" sz="2000" strike="noStrike" u="none">
                <a:solidFill>
                  <a:srgbClr val="000000"/>
                </a:solidFill>
                <a:latin typeface="1883 Sans"/>
                <a:ea typeface="1883 Sans"/>
                <a:cs typeface="1883 Sans"/>
                <a:sym typeface="1883 Sans"/>
              </a:rPr>
              <a:t>,</a:t>
            </a:r>
            <a:r>
              <a:rPr lang="en-US" sz="2000" strike="noStrike" u="none">
                <a:solidFill>
                  <a:srgbClr val="000000"/>
                </a:solidFill>
                <a:latin typeface="1883 Sans"/>
                <a:ea typeface="1883 Sans"/>
                <a:cs typeface="1883 Sans"/>
                <a:sym typeface="1883 Sans"/>
              </a:rPr>
              <a:t> s</a:t>
            </a:r>
            <a:r>
              <a:rPr lang="en-US" sz="2000" strike="noStrike" u="none">
                <a:solidFill>
                  <a:srgbClr val="000000"/>
                </a:solidFill>
                <a:latin typeface="1883 Sans"/>
                <a:ea typeface="1883 Sans"/>
                <a:cs typeface="1883 Sans"/>
                <a:sym typeface="1883 Sans"/>
              </a:rPr>
              <a:t>cal</a:t>
            </a:r>
            <a:r>
              <a:rPr lang="en-US" sz="2000" strike="noStrike" u="none">
                <a:solidFill>
                  <a:srgbClr val="000000"/>
                </a:solidFill>
                <a:latin typeface="1883 Sans"/>
                <a:ea typeface="1883 Sans"/>
                <a:cs typeface="1883 Sans"/>
                <a:sym typeface="1883 Sans"/>
              </a:rPr>
              <a:t>e</a:t>
            </a:r>
            <a:r>
              <a:rPr lang="en-US" sz="2000" strike="noStrike" u="none">
                <a:solidFill>
                  <a:srgbClr val="000000"/>
                </a:solidFill>
                <a:latin typeface="1883 Sans"/>
                <a:ea typeface="1883 Sans"/>
                <a:cs typeface="1883 Sans"/>
                <a:sym typeface="1883 Sans"/>
              </a:rPr>
              <a:t>d</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t</a:t>
            </a:r>
            <a:r>
              <a:rPr lang="en-US" sz="2000" strike="noStrike" u="none">
                <a:solidFill>
                  <a:srgbClr val="000000"/>
                </a:solidFill>
                <a:latin typeface="1883 Sans"/>
                <a:ea typeface="1883 Sans"/>
                <a:cs typeface="1883 Sans"/>
                <a:sym typeface="1883 Sans"/>
              </a:rPr>
              <a:t>o </a:t>
            </a:r>
            <a:r>
              <a:rPr lang="en-US" sz="2000" strike="noStrike" u="none">
                <a:solidFill>
                  <a:srgbClr val="000000"/>
                </a:solidFill>
                <a:latin typeface="1883 Sans"/>
                <a:ea typeface="1883 Sans"/>
                <a:cs typeface="1883 Sans"/>
                <a:sym typeface="1883 Sans"/>
              </a:rPr>
              <a:t>hospita</a:t>
            </a:r>
            <a:r>
              <a:rPr lang="en-US" sz="2000" strike="noStrike" u="none">
                <a:solidFill>
                  <a:srgbClr val="000000"/>
                </a:solidFill>
                <a:latin typeface="1883 Sans"/>
                <a:ea typeface="1883 Sans"/>
                <a:cs typeface="1883 Sans"/>
                <a:sym typeface="1883 Sans"/>
              </a:rPr>
              <a:t>l</a:t>
            </a:r>
            <a:r>
              <a:rPr lang="en-US" sz="2000" strike="noStrike" u="none">
                <a:solidFill>
                  <a:srgbClr val="000000"/>
                </a:solidFill>
                <a:latin typeface="1883 Sans"/>
                <a:ea typeface="1883 Sans"/>
                <a:cs typeface="1883 Sans"/>
                <a:sym typeface="1883 Sans"/>
              </a:rPr>
              <a:t>iz</a:t>
            </a:r>
            <a:r>
              <a:rPr lang="en-US" sz="2000" strike="noStrike" u="none">
                <a:solidFill>
                  <a:srgbClr val="000000"/>
                </a:solidFill>
                <a:latin typeface="1883 Sans"/>
                <a:ea typeface="1883 Sans"/>
                <a:cs typeface="1883 Sans"/>
                <a:sym typeface="1883 Sans"/>
              </a:rPr>
              <a:t>a</a:t>
            </a:r>
            <a:r>
              <a:rPr lang="en-US" sz="2000" strike="noStrike" u="none">
                <a:solidFill>
                  <a:srgbClr val="000000"/>
                </a:solidFill>
                <a:latin typeface="1883 Sans"/>
                <a:ea typeface="1883 Sans"/>
                <a:cs typeface="1883 Sans"/>
                <a:sym typeface="1883 Sans"/>
              </a:rPr>
              <a:t>ti</a:t>
            </a:r>
            <a:r>
              <a:rPr lang="en-US" sz="2000" strike="noStrike" u="none">
                <a:solidFill>
                  <a:srgbClr val="000000"/>
                </a:solidFill>
                <a:latin typeface="1883 Sans"/>
                <a:ea typeface="1883 Sans"/>
                <a:cs typeface="1883 Sans"/>
                <a:sym typeface="1883 Sans"/>
              </a:rPr>
              <a:t>o</a:t>
            </a:r>
            <a:r>
              <a:rPr lang="en-US" sz="2000" strike="noStrike" u="none">
                <a:solidFill>
                  <a:srgbClr val="000000"/>
                </a:solidFill>
                <a:latin typeface="1883 Sans"/>
                <a:ea typeface="1883 Sans"/>
                <a:cs typeface="1883 Sans"/>
                <a:sym typeface="1883 Sans"/>
              </a:rPr>
              <a:t>ns</a:t>
            </a:r>
          </a:p>
        </p:txBody>
      </p:sp>
      <p:sp>
        <p:nvSpPr>
          <p:cNvPr name="TextBox 17" id="17"/>
          <p:cNvSpPr txBox="true"/>
          <p:nvPr/>
        </p:nvSpPr>
        <p:spPr>
          <a:xfrm rot="0">
            <a:off x="9141618" y="3695272"/>
            <a:ext cx="6765224" cy="441325"/>
          </a:xfrm>
          <a:prstGeom prst="rect">
            <a:avLst/>
          </a:prstGeom>
        </p:spPr>
        <p:txBody>
          <a:bodyPr anchor="t" rtlCol="false" tIns="0" lIns="0" bIns="0" rIns="0">
            <a:spAutoFit/>
          </a:bodyPr>
          <a:lstStyle/>
          <a:p>
            <a:pPr algn="just">
              <a:lnSpc>
                <a:spcPts val="3499"/>
              </a:lnSpc>
            </a:pPr>
            <a:r>
              <a:rPr lang="en-US" b="true" sz="2499">
                <a:solidFill>
                  <a:srgbClr val="000000"/>
                </a:solidFill>
                <a:latin typeface="Poppins Medium"/>
                <a:ea typeface="Poppins Medium"/>
                <a:cs typeface="Poppins Medium"/>
                <a:sym typeface="Poppins Medium"/>
              </a:rPr>
              <a:t>Gradient Boosting Correction Layer</a:t>
            </a:r>
          </a:p>
        </p:txBody>
      </p:sp>
      <p:grpSp>
        <p:nvGrpSpPr>
          <p:cNvPr name="Group 18" id="18"/>
          <p:cNvGrpSpPr/>
          <p:nvPr/>
        </p:nvGrpSpPr>
        <p:grpSpPr>
          <a:xfrm rot="0">
            <a:off x="2378776" y="6044426"/>
            <a:ext cx="13072933" cy="3213874"/>
            <a:chOff x="0" y="0"/>
            <a:chExt cx="3443077" cy="846452"/>
          </a:xfrm>
        </p:grpSpPr>
        <p:sp>
          <p:nvSpPr>
            <p:cNvPr name="Freeform 19" id="19"/>
            <p:cNvSpPr/>
            <p:nvPr/>
          </p:nvSpPr>
          <p:spPr>
            <a:xfrm flipH="false" flipV="false" rot="0">
              <a:off x="0" y="0"/>
              <a:ext cx="3443077" cy="846452"/>
            </a:xfrm>
            <a:custGeom>
              <a:avLst/>
              <a:gdLst/>
              <a:ahLst/>
              <a:cxnLst/>
              <a:rect r="r" b="b" t="t" l="l"/>
              <a:pathLst>
                <a:path h="846452" w="3443077">
                  <a:moveTo>
                    <a:pt x="30203" y="0"/>
                  </a:moveTo>
                  <a:lnTo>
                    <a:pt x="3412874" y="0"/>
                  </a:lnTo>
                  <a:cubicBezTo>
                    <a:pt x="3420885" y="0"/>
                    <a:pt x="3428567" y="3182"/>
                    <a:pt x="3434231" y="8846"/>
                  </a:cubicBezTo>
                  <a:cubicBezTo>
                    <a:pt x="3439895" y="14510"/>
                    <a:pt x="3443077" y="22192"/>
                    <a:pt x="3443077" y="30203"/>
                  </a:cubicBezTo>
                  <a:lnTo>
                    <a:pt x="3443077" y="816250"/>
                  </a:lnTo>
                  <a:cubicBezTo>
                    <a:pt x="3443077" y="824260"/>
                    <a:pt x="3439895" y="831942"/>
                    <a:pt x="3434231" y="837606"/>
                  </a:cubicBezTo>
                  <a:cubicBezTo>
                    <a:pt x="3428567" y="843270"/>
                    <a:pt x="3420885" y="846452"/>
                    <a:pt x="3412874" y="846452"/>
                  </a:cubicBezTo>
                  <a:lnTo>
                    <a:pt x="30203" y="846452"/>
                  </a:lnTo>
                  <a:cubicBezTo>
                    <a:pt x="22192" y="846452"/>
                    <a:pt x="14510" y="843270"/>
                    <a:pt x="8846" y="837606"/>
                  </a:cubicBezTo>
                  <a:cubicBezTo>
                    <a:pt x="3182" y="831942"/>
                    <a:pt x="0" y="824260"/>
                    <a:pt x="0" y="816250"/>
                  </a:cubicBezTo>
                  <a:lnTo>
                    <a:pt x="0" y="30203"/>
                  </a:lnTo>
                  <a:cubicBezTo>
                    <a:pt x="0" y="22192"/>
                    <a:pt x="3182" y="14510"/>
                    <a:pt x="8846" y="8846"/>
                  </a:cubicBezTo>
                  <a:cubicBezTo>
                    <a:pt x="14510" y="3182"/>
                    <a:pt x="22192" y="0"/>
                    <a:pt x="30203" y="0"/>
                  </a:cubicBezTo>
                  <a:close/>
                </a:path>
              </a:pathLst>
            </a:custGeom>
            <a:solidFill>
              <a:srgbClr val="E4FCFF"/>
            </a:solidFill>
          </p:spPr>
        </p:sp>
        <p:sp>
          <p:nvSpPr>
            <p:cNvPr name="TextBox 20" id="20"/>
            <p:cNvSpPr txBox="true"/>
            <p:nvPr/>
          </p:nvSpPr>
          <p:spPr>
            <a:xfrm>
              <a:off x="0" y="-38100"/>
              <a:ext cx="3443077" cy="884552"/>
            </a:xfrm>
            <a:prstGeom prst="rect">
              <a:avLst/>
            </a:prstGeom>
          </p:spPr>
          <p:txBody>
            <a:bodyPr anchor="ctr" rtlCol="false" tIns="50800" lIns="50800" bIns="50800" rIns="50800"/>
            <a:lstStyle/>
            <a:p>
              <a:pPr algn="ctr">
                <a:lnSpc>
                  <a:spcPts val="2799"/>
                </a:lnSpc>
              </a:pPr>
            </a:p>
          </p:txBody>
        </p:sp>
      </p:grpSp>
      <p:sp>
        <p:nvSpPr>
          <p:cNvPr name="TextBox 21" id="21"/>
          <p:cNvSpPr txBox="true"/>
          <p:nvPr/>
        </p:nvSpPr>
        <p:spPr>
          <a:xfrm rot="0">
            <a:off x="3360510" y="6445150"/>
            <a:ext cx="11109464" cy="2454276"/>
          </a:xfrm>
          <a:prstGeom prst="rect">
            <a:avLst/>
          </a:prstGeom>
        </p:spPr>
        <p:txBody>
          <a:bodyPr anchor="t" rtlCol="false" tIns="0" lIns="0" bIns="0" rIns="0">
            <a:spAutoFit/>
          </a:bodyPr>
          <a:lstStyle/>
          <a:p>
            <a:pPr algn="l">
              <a:lnSpc>
                <a:spcPts val="2799"/>
              </a:lnSpc>
            </a:pPr>
            <a:r>
              <a:rPr lang="en-US" sz="1999" b="true">
                <a:solidFill>
                  <a:srgbClr val="000000"/>
                </a:solidFill>
                <a:latin typeface="DM Sans Bold"/>
                <a:ea typeface="DM Sans Bold"/>
                <a:cs typeface="DM Sans Bold"/>
                <a:sym typeface="DM Sans Bold"/>
              </a:rPr>
              <a:t>Final </a:t>
            </a:r>
            <a:r>
              <a:rPr lang="en-US" b="true" sz="1999">
                <a:solidFill>
                  <a:srgbClr val="000000"/>
                </a:solidFill>
                <a:latin typeface="DM Sans Bold"/>
                <a:ea typeface="DM Sans Bold"/>
                <a:cs typeface="DM Sans Bold"/>
                <a:sym typeface="DM Sans Bold"/>
              </a:rPr>
              <a:t>output: </a:t>
            </a:r>
            <a:r>
              <a:rPr lang="en-US" sz="1999">
                <a:solidFill>
                  <a:srgbClr val="000000"/>
                </a:solidFill>
                <a:latin typeface="DM Sans"/>
                <a:ea typeface="DM Sans"/>
                <a:cs typeface="DM Sans"/>
                <a:sym typeface="DM Sans"/>
              </a:rPr>
              <a:t>corrected point forecast + 90% prediction intervals, widening over the forecast horizon</a:t>
            </a:r>
          </a:p>
          <a:p>
            <a:pPr algn="l">
              <a:lnSpc>
                <a:spcPts val="2799"/>
              </a:lnSpc>
            </a:pPr>
          </a:p>
          <a:p>
            <a:pPr algn="l" marL="431796" indent="-215898" lvl="1">
              <a:lnSpc>
                <a:spcPts val="2799"/>
              </a:lnSpc>
              <a:buFont typeface="Arial"/>
              <a:buChar char="•"/>
            </a:pPr>
            <a:r>
              <a:rPr lang="en-US" sz="1999">
                <a:solidFill>
                  <a:srgbClr val="000000"/>
                </a:solidFill>
                <a:latin typeface="DM Sans"/>
                <a:ea typeface="DM Sans"/>
                <a:cs typeface="DM Sans"/>
                <a:sym typeface="DM Sans"/>
              </a:rPr>
              <a:t>Beta (transmission rate) estimated via bounded scalar optimization (scipy minimize_scalar), calibrated independently per wave period across four defined wave windows</a:t>
            </a:r>
          </a:p>
          <a:p>
            <a:pPr algn="l" marL="431796" indent="-215898" lvl="1">
              <a:lnSpc>
                <a:spcPts val="2799"/>
              </a:lnSpc>
              <a:buFont typeface="Arial"/>
              <a:buChar char="•"/>
            </a:pPr>
            <a:r>
              <a:rPr lang="en-US" sz="1999">
                <a:solidFill>
                  <a:srgbClr val="000000"/>
                </a:solidFill>
                <a:latin typeface="DM Sans"/>
                <a:ea typeface="DM Sans"/>
                <a:cs typeface="DM Sans"/>
                <a:sym typeface="DM Sans"/>
              </a:rPr>
              <a:t>Effective beta adjusted for vaccination rate using: β_eff = β_raw × (1 − 0.85 × vax_rate)</a:t>
            </a:r>
          </a:p>
        </p:txBody>
      </p:sp>
      <p:sp>
        <p:nvSpPr>
          <p:cNvPr name="TextBox 22" id="22"/>
          <p:cNvSpPr txBox="true"/>
          <p:nvPr/>
        </p:nvSpPr>
        <p:spPr>
          <a:xfrm rot="0">
            <a:off x="5759006" y="2377647"/>
            <a:ext cx="6765224" cy="441325"/>
          </a:xfrm>
          <a:prstGeom prst="rect">
            <a:avLst/>
          </a:prstGeom>
        </p:spPr>
        <p:txBody>
          <a:bodyPr anchor="t" rtlCol="false" tIns="0" lIns="0" bIns="0" rIns="0">
            <a:spAutoFit/>
          </a:bodyPr>
          <a:lstStyle/>
          <a:p>
            <a:pPr algn="ctr">
              <a:lnSpc>
                <a:spcPts val="3499"/>
              </a:lnSpc>
            </a:pPr>
            <a:r>
              <a:rPr lang="en-US" b="true" sz="2499">
                <a:solidFill>
                  <a:srgbClr val="000000"/>
                </a:solidFill>
                <a:latin typeface="Poppins Medium"/>
                <a:ea typeface="Poppins Medium"/>
                <a:cs typeface="Poppins Medium"/>
                <a:sym typeface="Poppins Medium"/>
              </a:rPr>
              <a:t>Base model + Correction Layer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9318287" y="8184335"/>
            <a:ext cx="5422296" cy="54222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477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291817" y="8888715"/>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5400000">
            <a:off x="14819714" y="2204830"/>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006356" y="4464876"/>
            <a:ext cx="14275289" cy="5353233"/>
          </a:xfrm>
          <a:custGeom>
            <a:avLst/>
            <a:gdLst/>
            <a:ahLst/>
            <a:cxnLst/>
            <a:rect r="r" b="b" t="t" l="l"/>
            <a:pathLst>
              <a:path h="5353233" w="14275289">
                <a:moveTo>
                  <a:pt x="0" y="0"/>
                </a:moveTo>
                <a:lnTo>
                  <a:pt x="14275288" y="0"/>
                </a:lnTo>
                <a:lnTo>
                  <a:pt x="14275288" y="5353233"/>
                </a:lnTo>
                <a:lnTo>
                  <a:pt x="0" y="5353233"/>
                </a:lnTo>
                <a:lnTo>
                  <a:pt x="0" y="0"/>
                </a:lnTo>
                <a:close/>
              </a:path>
            </a:pathLst>
          </a:custGeom>
          <a:blipFill>
            <a:blip r:embed="rId5"/>
            <a:stretch>
              <a:fillRect l="0" t="0" r="0" b="0"/>
            </a:stretch>
          </a:blipFill>
        </p:spPr>
      </p:sp>
      <p:sp>
        <p:nvSpPr>
          <p:cNvPr name="TextBox 14" id="14"/>
          <p:cNvSpPr txBox="true"/>
          <p:nvPr/>
        </p:nvSpPr>
        <p:spPr>
          <a:xfrm rot="0">
            <a:off x="1732037" y="1082392"/>
            <a:ext cx="7759898" cy="1032306"/>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SEIR Model</a:t>
            </a:r>
          </a:p>
        </p:txBody>
      </p:sp>
      <p:sp>
        <p:nvSpPr>
          <p:cNvPr name="TextBox 15" id="15"/>
          <p:cNvSpPr txBox="true"/>
          <p:nvPr/>
        </p:nvSpPr>
        <p:spPr>
          <a:xfrm rot="0">
            <a:off x="1732037" y="2216365"/>
            <a:ext cx="13632049" cy="2492375"/>
          </a:xfrm>
          <a:prstGeom prst="rect">
            <a:avLst/>
          </a:prstGeom>
        </p:spPr>
        <p:txBody>
          <a:bodyPr anchor="t" rtlCol="false" tIns="0" lIns="0" bIns="0" rIns="0">
            <a:spAutoFit/>
          </a:bodyPr>
          <a:lstStyle/>
          <a:p>
            <a:pPr algn="l" marL="431801" indent="-215900" lvl="1">
              <a:lnSpc>
                <a:spcPts val="4000"/>
              </a:lnSpc>
              <a:buFont typeface="Arial"/>
              <a:buChar char="•"/>
            </a:pPr>
            <a:r>
              <a:rPr lang="en-US" sz="2000">
                <a:solidFill>
                  <a:srgbClr val="000000"/>
                </a:solidFill>
                <a:latin typeface="1883 Sans"/>
                <a:ea typeface="1883 Sans"/>
                <a:cs typeface="1883 Sans"/>
                <a:sym typeface="1883 Sans"/>
              </a:rPr>
              <a:t>Estimated transmission rate β through calibration, minimizing error against</a:t>
            </a:r>
            <a:r>
              <a:rPr lang="en-US" sz="2000" strike="noStrike" u="none">
                <a:solidFill>
                  <a:srgbClr val="000000"/>
                </a:solidFill>
                <a:latin typeface="1883 Sans"/>
                <a:ea typeface="1883 Sans"/>
                <a:cs typeface="1883 Sans"/>
                <a:sym typeface="1883 Sans"/>
              </a:rPr>
              <a:t> observe</a:t>
            </a:r>
            <a:r>
              <a:rPr lang="en-US" sz="2000" strike="noStrike" u="none">
                <a:solidFill>
                  <a:srgbClr val="000000"/>
                </a:solidFill>
                <a:latin typeface="1883 Sans"/>
                <a:ea typeface="1883 Sans"/>
                <a:cs typeface="1883 Sans"/>
                <a:sym typeface="1883 Sans"/>
              </a:rPr>
              <a:t>d hospitalizati</a:t>
            </a:r>
            <a:r>
              <a:rPr lang="en-US" sz="2000" strike="noStrike" u="none">
                <a:solidFill>
                  <a:srgbClr val="000000"/>
                </a:solidFill>
                <a:latin typeface="1883 Sans"/>
                <a:ea typeface="1883 Sans"/>
                <a:cs typeface="1883 Sans"/>
                <a:sym typeface="1883 Sans"/>
              </a:rPr>
              <a:t>o</a:t>
            </a:r>
            <a:r>
              <a:rPr lang="en-US" sz="2000" strike="noStrike" u="none">
                <a:solidFill>
                  <a:srgbClr val="000000"/>
                </a:solidFill>
                <a:latin typeface="1883 Sans"/>
                <a:ea typeface="1883 Sans"/>
                <a:cs typeface="1883 Sans"/>
                <a:sym typeface="1883 Sans"/>
              </a:rPr>
              <a:t>ns</a:t>
            </a:r>
          </a:p>
          <a:p>
            <a:pPr algn="l" marL="431801" indent="-215900" lvl="1">
              <a:lnSpc>
                <a:spcPts val="4000"/>
              </a:lnSpc>
              <a:buFont typeface="Arial"/>
              <a:buChar char="•"/>
            </a:pPr>
            <a:r>
              <a:rPr lang="en-US" sz="2000" strike="noStrike" u="none">
                <a:solidFill>
                  <a:srgbClr val="000000"/>
                </a:solidFill>
                <a:latin typeface="1883 Sans"/>
                <a:ea typeface="1883 Sans"/>
                <a:cs typeface="1883 Sans"/>
                <a:sym typeface="1883 Sans"/>
              </a:rPr>
              <a:t>Fit a s</a:t>
            </a:r>
            <a:r>
              <a:rPr lang="en-US" sz="2000" strike="noStrike" u="none">
                <a:solidFill>
                  <a:srgbClr val="000000"/>
                </a:solidFill>
                <a:latin typeface="1883 Sans"/>
                <a:ea typeface="1883 Sans"/>
                <a:cs typeface="1883 Sans"/>
                <a:sym typeface="1883 Sans"/>
              </a:rPr>
              <a:t>eparate β fo</a:t>
            </a:r>
            <a:r>
              <a:rPr lang="en-US" sz="2000" strike="noStrike" u="none">
                <a:solidFill>
                  <a:srgbClr val="000000"/>
                </a:solidFill>
                <a:latin typeface="1883 Sans"/>
                <a:ea typeface="1883 Sans"/>
                <a:cs typeface="1883 Sans"/>
                <a:sym typeface="1883 Sans"/>
              </a:rPr>
              <a:t>r each</a:t>
            </a:r>
            <a:r>
              <a:rPr lang="en-US" sz="2000" strike="noStrike" u="none">
                <a:solidFill>
                  <a:srgbClr val="000000"/>
                </a:solidFill>
                <a:latin typeface="1883 Sans"/>
                <a:ea typeface="1883 Sans"/>
                <a:cs typeface="1883 Sans"/>
                <a:sym typeface="1883 Sans"/>
              </a:rPr>
              <a:t> COVID wave period to reflect changing transmission patterns</a:t>
            </a:r>
          </a:p>
          <a:p>
            <a:pPr algn="l" marL="431801" indent="-215900" lvl="1">
              <a:lnSpc>
                <a:spcPts val="4000"/>
              </a:lnSpc>
              <a:buFont typeface="Arial"/>
              <a:buChar char="•"/>
            </a:pPr>
            <a:r>
              <a:rPr lang="en-US" sz="2000" strike="noStrike" u="none">
                <a:solidFill>
                  <a:srgbClr val="000000"/>
                </a:solidFill>
                <a:latin typeface="1883 Sans"/>
                <a:ea typeface="1883 Sans"/>
                <a:cs typeface="1883 Sans"/>
                <a:sym typeface="1883 Sans"/>
              </a:rPr>
              <a:t>Set </a:t>
            </a:r>
            <a:r>
              <a:rPr lang="en-US" sz="2000" strike="noStrike" u="none">
                <a:solidFill>
                  <a:srgbClr val="000000"/>
                </a:solidFill>
                <a:latin typeface="1883 Sans"/>
                <a:ea typeface="1883 Sans"/>
                <a:cs typeface="1883 Sans"/>
                <a:sym typeface="1883 Sans"/>
              </a:rPr>
              <a:t>in</a:t>
            </a:r>
            <a:r>
              <a:rPr lang="en-US" sz="2000" strike="noStrike" u="none">
                <a:solidFill>
                  <a:srgbClr val="000000"/>
                </a:solidFill>
                <a:latin typeface="1883 Sans"/>
                <a:ea typeface="1883 Sans"/>
                <a:cs typeface="1883 Sans"/>
                <a:sym typeface="1883 Sans"/>
              </a:rPr>
              <a:t>itial conditions </a:t>
            </a:r>
            <a:r>
              <a:rPr lang="en-US" sz="2000" strike="noStrike" u="none">
                <a:solidFill>
                  <a:srgbClr val="000000"/>
                </a:solidFill>
                <a:latin typeface="1883 Sans"/>
                <a:ea typeface="1883 Sans"/>
                <a:cs typeface="1883 Sans"/>
                <a:sym typeface="1883 Sans"/>
              </a:rPr>
              <a:t>f</a:t>
            </a:r>
            <a:r>
              <a:rPr lang="en-US" sz="2000" strike="noStrike" u="none">
                <a:solidFill>
                  <a:srgbClr val="000000"/>
                </a:solidFill>
                <a:latin typeface="1883 Sans"/>
                <a:ea typeface="1883 Sans"/>
                <a:cs typeface="1883 Sans"/>
                <a:sym typeface="1883 Sans"/>
              </a:rPr>
              <a:t>rom ea</a:t>
            </a:r>
            <a:r>
              <a:rPr lang="en-US" sz="2000" strike="noStrike" u="none">
                <a:solidFill>
                  <a:srgbClr val="000000"/>
                </a:solidFill>
                <a:latin typeface="1883 Sans"/>
                <a:ea typeface="1883 Sans"/>
                <a:cs typeface="1883 Sans"/>
                <a:sym typeface="1883 Sans"/>
              </a:rPr>
              <a:t>r</a:t>
            </a:r>
            <a:r>
              <a:rPr lang="en-US" sz="2000" strike="noStrike" u="none">
                <a:solidFill>
                  <a:srgbClr val="000000"/>
                </a:solidFill>
                <a:latin typeface="1883 Sans"/>
                <a:ea typeface="1883 Sans"/>
                <a:cs typeface="1883 Sans"/>
                <a:sym typeface="1883 Sans"/>
              </a:rPr>
              <a:t>l</a:t>
            </a:r>
            <a:r>
              <a:rPr lang="en-US" sz="2000" strike="noStrike" u="none">
                <a:solidFill>
                  <a:srgbClr val="000000"/>
                </a:solidFill>
                <a:latin typeface="1883 Sans"/>
                <a:ea typeface="1883 Sans"/>
                <a:cs typeface="1883 Sans"/>
                <a:sym typeface="1883 Sans"/>
              </a:rPr>
              <a:t>y</a:t>
            </a:r>
            <a:r>
              <a:rPr lang="en-US" sz="2000" strike="noStrike" u="none">
                <a:solidFill>
                  <a:srgbClr val="000000"/>
                </a:solidFill>
                <a:latin typeface="1883 Sans"/>
                <a:ea typeface="1883 Sans"/>
                <a:cs typeface="1883 Sans"/>
                <a:sym typeface="1883 Sans"/>
              </a:rPr>
              <a:t> hospitalization data</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a</a:t>
            </a:r>
            <a:r>
              <a:rPr lang="en-US" sz="2000" strike="noStrike" u="none">
                <a:solidFill>
                  <a:srgbClr val="000000"/>
                </a:solidFill>
                <a:latin typeface="1883 Sans"/>
                <a:ea typeface="1883 Sans"/>
                <a:cs typeface="1883 Sans"/>
                <a:sym typeface="1883 Sans"/>
              </a:rPr>
              <a:t>n</a:t>
            </a:r>
            <a:r>
              <a:rPr lang="en-US" sz="2000" strike="noStrike" u="none">
                <a:solidFill>
                  <a:srgbClr val="000000"/>
                </a:solidFill>
                <a:latin typeface="1883 Sans"/>
                <a:ea typeface="1883 Sans"/>
                <a:cs typeface="1883 Sans"/>
                <a:sym typeface="1883 Sans"/>
              </a:rPr>
              <a:t>d scale</a:t>
            </a:r>
            <a:r>
              <a:rPr lang="en-US" sz="2000" strike="noStrike" u="none">
                <a:solidFill>
                  <a:srgbClr val="000000"/>
                </a:solidFill>
                <a:latin typeface="1883 Sans"/>
                <a:ea typeface="1883 Sans"/>
                <a:cs typeface="1883 Sans"/>
                <a:sym typeface="1883 Sans"/>
              </a:rPr>
              <a:t>d</a:t>
            </a:r>
            <a:r>
              <a:rPr lang="en-US" sz="2000" strike="noStrike" u="none">
                <a:solidFill>
                  <a:srgbClr val="000000"/>
                </a:solidFill>
                <a:latin typeface="1883 Sans"/>
                <a:ea typeface="1883 Sans"/>
                <a:cs typeface="1883 Sans"/>
                <a:sym typeface="1883 Sans"/>
              </a:rPr>
              <a:t> SEIR output to match observed levels</a:t>
            </a:r>
          </a:p>
          <a:p>
            <a:pPr algn="l" marL="431801" indent="-215900" lvl="1">
              <a:lnSpc>
                <a:spcPts val="4000"/>
              </a:lnSpc>
              <a:buFont typeface="Arial"/>
              <a:buChar char="•"/>
            </a:pPr>
            <a:r>
              <a:rPr lang="en-US" sz="2000" strike="noStrike" u="none">
                <a:solidFill>
                  <a:srgbClr val="000000"/>
                </a:solidFill>
                <a:latin typeface="1883 Sans"/>
                <a:ea typeface="1883 Sans"/>
                <a:cs typeface="1883 Sans"/>
                <a:sym typeface="1883 Sans"/>
              </a:rPr>
              <a:t>Adjusted </a:t>
            </a:r>
            <a:r>
              <a:rPr lang="en-US" sz="2000" strike="noStrike" u="none">
                <a:solidFill>
                  <a:srgbClr val="000000"/>
                </a:solidFill>
                <a:latin typeface="1883 Sans"/>
                <a:ea typeface="1883 Sans"/>
                <a:cs typeface="1883 Sans"/>
                <a:sym typeface="1883 Sans"/>
              </a:rPr>
              <a:t>effective </a:t>
            </a:r>
            <a:r>
              <a:rPr lang="en-US" sz="2000" strike="noStrike" u="none">
                <a:solidFill>
                  <a:srgbClr val="000000"/>
                </a:solidFill>
                <a:latin typeface="1883 Sans"/>
                <a:ea typeface="1883 Sans"/>
                <a:cs typeface="1883 Sans"/>
                <a:sym typeface="1883 Sans"/>
              </a:rPr>
              <a:t>transmission using vaccination cover</a:t>
            </a:r>
            <a:r>
              <a:rPr lang="en-US" sz="2000" strike="noStrike" u="none">
                <a:solidFill>
                  <a:srgbClr val="000000"/>
                </a:solidFill>
                <a:latin typeface="1883 Sans"/>
                <a:ea typeface="1883 Sans"/>
                <a:cs typeface="1883 Sans"/>
                <a:sym typeface="1883 Sans"/>
              </a:rPr>
              <a:t>age</a:t>
            </a:r>
            <a:r>
              <a:rPr lang="en-US" sz="2000" strike="noStrike" u="none">
                <a:solidFill>
                  <a:srgbClr val="000000"/>
                </a:solidFill>
                <a:latin typeface="1883 Sans"/>
                <a:ea typeface="1883 Sans"/>
                <a:cs typeface="1883 Sans"/>
                <a:sym typeface="1883 Sans"/>
              </a:rPr>
              <a:t> </a:t>
            </a:r>
            <a:r>
              <a:rPr lang="en-US" sz="2000" strike="noStrike" u="none">
                <a:solidFill>
                  <a:srgbClr val="000000"/>
                </a:solidFill>
                <a:latin typeface="1883 Sans"/>
                <a:ea typeface="1883 Sans"/>
                <a:cs typeface="1883 Sans"/>
                <a:sym typeface="1883 Sans"/>
              </a:rPr>
              <a:t>and</a:t>
            </a:r>
            <a:r>
              <a:rPr lang="en-US" sz="2000" strike="noStrike" u="none">
                <a:solidFill>
                  <a:srgbClr val="000000"/>
                </a:solidFill>
                <a:latin typeface="1883 Sans"/>
                <a:ea typeface="1883 Sans"/>
                <a:cs typeface="1883 Sans"/>
                <a:sym typeface="1883 Sans"/>
              </a:rPr>
              <a:t> assumed 85% vaccin</a:t>
            </a:r>
            <a:r>
              <a:rPr lang="en-US" sz="2000" strike="noStrike" u="none">
                <a:solidFill>
                  <a:srgbClr val="000000"/>
                </a:solidFill>
                <a:latin typeface="1883 Sans"/>
                <a:ea typeface="1883 Sans"/>
                <a:cs typeface="1883 Sans"/>
                <a:sym typeface="1883 Sans"/>
              </a:rPr>
              <a:t>e effec</a:t>
            </a:r>
            <a:r>
              <a:rPr lang="en-US" sz="2000" strike="noStrike" u="none">
                <a:solidFill>
                  <a:srgbClr val="000000"/>
                </a:solidFill>
                <a:latin typeface="1883 Sans"/>
                <a:ea typeface="1883 Sans"/>
                <a:cs typeface="1883 Sans"/>
                <a:sym typeface="1883 Sans"/>
              </a:rPr>
              <a:t>tivenes</a:t>
            </a:r>
            <a:r>
              <a:rPr lang="en-US" sz="2000" strike="noStrike" u="none">
                <a:solidFill>
                  <a:srgbClr val="000000"/>
                </a:solidFill>
                <a:latin typeface="1883 Sans"/>
                <a:ea typeface="1883 Sans"/>
                <a:cs typeface="1883 Sans"/>
                <a:sym typeface="1883 Sans"/>
              </a:rPr>
              <a:t>s</a:t>
            </a:r>
          </a:p>
          <a:p>
            <a:pPr algn="l">
              <a:lnSpc>
                <a:spcPts val="40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4648830" y="5063434"/>
            <a:ext cx="7278339" cy="72783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291817" y="8510093"/>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5400000">
            <a:off x="11746036" y="4136642"/>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3639170" y="-5450766"/>
            <a:ext cx="7278339" cy="72783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451041" y="6370297"/>
            <a:ext cx="11644130" cy="2840378"/>
            <a:chOff x="0" y="0"/>
            <a:chExt cx="3066767" cy="748083"/>
          </a:xfrm>
        </p:grpSpPr>
        <p:sp>
          <p:nvSpPr>
            <p:cNvPr name="Freeform 17" id="17"/>
            <p:cNvSpPr/>
            <p:nvPr/>
          </p:nvSpPr>
          <p:spPr>
            <a:xfrm flipH="false" flipV="false" rot="0">
              <a:off x="0" y="0"/>
              <a:ext cx="3066767" cy="748083"/>
            </a:xfrm>
            <a:custGeom>
              <a:avLst/>
              <a:gdLst/>
              <a:ahLst/>
              <a:cxnLst/>
              <a:rect r="r" b="b" t="t" l="l"/>
              <a:pathLst>
                <a:path h="748083" w="3066767">
                  <a:moveTo>
                    <a:pt x="33909" y="0"/>
                  </a:moveTo>
                  <a:lnTo>
                    <a:pt x="3032858" y="0"/>
                  </a:lnTo>
                  <a:cubicBezTo>
                    <a:pt x="3051585" y="0"/>
                    <a:pt x="3066767" y="15181"/>
                    <a:pt x="3066767" y="33909"/>
                  </a:cubicBezTo>
                  <a:lnTo>
                    <a:pt x="3066767" y="714174"/>
                  </a:lnTo>
                  <a:cubicBezTo>
                    <a:pt x="3066767" y="732902"/>
                    <a:pt x="3051585" y="748083"/>
                    <a:pt x="3032858" y="748083"/>
                  </a:cubicBezTo>
                  <a:lnTo>
                    <a:pt x="33909" y="748083"/>
                  </a:lnTo>
                  <a:cubicBezTo>
                    <a:pt x="15181" y="748083"/>
                    <a:pt x="0" y="732902"/>
                    <a:pt x="0" y="714174"/>
                  </a:cubicBezTo>
                  <a:lnTo>
                    <a:pt x="0" y="33909"/>
                  </a:lnTo>
                  <a:cubicBezTo>
                    <a:pt x="0" y="15181"/>
                    <a:pt x="15181" y="0"/>
                    <a:pt x="33909" y="0"/>
                  </a:cubicBezTo>
                  <a:close/>
                </a:path>
              </a:pathLst>
            </a:custGeom>
            <a:solidFill>
              <a:srgbClr val="E4FCFF"/>
            </a:solidFill>
          </p:spPr>
        </p:sp>
        <p:sp>
          <p:nvSpPr>
            <p:cNvPr name="TextBox 18" id="18"/>
            <p:cNvSpPr txBox="true"/>
            <p:nvPr/>
          </p:nvSpPr>
          <p:spPr>
            <a:xfrm>
              <a:off x="0" y="-38100"/>
              <a:ext cx="3066767" cy="786183"/>
            </a:xfrm>
            <a:prstGeom prst="rect">
              <a:avLst/>
            </a:prstGeom>
          </p:spPr>
          <p:txBody>
            <a:bodyPr anchor="ctr" rtlCol="false" tIns="50800" lIns="50800" bIns="50800" rIns="50800"/>
            <a:lstStyle/>
            <a:p>
              <a:pPr algn="ctr">
                <a:lnSpc>
                  <a:spcPts val="2799"/>
                </a:lnSpc>
              </a:pPr>
            </a:p>
          </p:txBody>
        </p:sp>
      </p:grpSp>
      <p:sp>
        <p:nvSpPr>
          <p:cNvPr name="TextBox 19" id="19"/>
          <p:cNvSpPr txBox="true"/>
          <p:nvPr/>
        </p:nvSpPr>
        <p:spPr>
          <a:xfrm rot="0">
            <a:off x="2451041" y="1548578"/>
            <a:ext cx="11644130" cy="1039844"/>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Correction Layer + Training</a:t>
            </a:r>
          </a:p>
        </p:txBody>
      </p:sp>
      <p:sp>
        <p:nvSpPr>
          <p:cNvPr name="TextBox 20" id="20"/>
          <p:cNvSpPr txBox="true"/>
          <p:nvPr/>
        </p:nvSpPr>
        <p:spPr>
          <a:xfrm rot="0">
            <a:off x="2883443" y="6540806"/>
            <a:ext cx="10779325" cy="2346961"/>
          </a:xfrm>
          <a:prstGeom prst="rect">
            <a:avLst/>
          </a:prstGeom>
        </p:spPr>
        <p:txBody>
          <a:bodyPr anchor="t" rtlCol="false" tIns="0" lIns="0" bIns="0" rIns="0">
            <a:spAutoFit/>
          </a:bodyPr>
          <a:lstStyle/>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Built 90% prediction intervals using training residual standard deviation</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Scaled uncertainty</a:t>
            </a:r>
            <a:r>
              <a:rPr lang="en-US" sz="2399" strike="noStrike" u="none">
                <a:solidFill>
                  <a:srgbClr val="000000"/>
                </a:solidFill>
                <a:latin typeface="1883 Sans"/>
                <a:ea typeface="1883 Sans"/>
                <a:cs typeface="1883 Sans"/>
                <a:sym typeface="1883 Sans"/>
              </a:rPr>
              <a:t> by √weeks </a:t>
            </a:r>
            <a:r>
              <a:rPr lang="en-US" sz="2399" strike="noStrike" u="none">
                <a:solidFill>
                  <a:srgbClr val="000000"/>
                </a:solidFill>
                <a:latin typeface="1883 Sans"/>
                <a:ea typeface="1883 Sans"/>
                <a:cs typeface="1883 Sans"/>
                <a:sym typeface="1883 Sans"/>
              </a:rPr>
              <a:t>ahe</a:t>
            </a:r>
            <a:r>
              <a:rPr lang="en-US" sz="2399" strike="noStrike" u="none">
                <a:solidFill>
                  <a:srgbClr val="000000"/>
                </a:solidFill>
                <a:latin typeface="1883 Sans"/>
                <a:ea typeface="1883 Sans"/>
                <a:cs typeface="1883 Sans"/>
                <a:sym typeface="1883 Sans"/>
              </a:rPr>
              <a:t>a</a:t>
            </a:r>
            <a:r>
              <a:rPr lang="en-US" sz="2399" strike="noStrike" u="none">
                <a:solidFill>
                  <a:srgbClr val="000000"/>
                </a:solidFill>
                <a:latin typeface="1883 Sans"/>
                <a:ea typeface="1883 Sans"/>
                <a:cs typeface="1883 Sans"/>
                <a:sym typeface="1883 Sans"/>
              </a:rPr>
              <a:t>d </a:t>
            </a:r>
            <a:r>
              <a:rPr lang="en-US" sz="2399" strike="noStrike" u="none">
                <a:solidFill>
                  <a:srgbClr val="000000"/>
                </a:solidFill>
                <a:latin typeface="1883 Sans"/>
                <a:ea typeface="1883 Sans"/>
                <a:cs typeface="1883 Sans"/>
                <a:sym typeface="1883 Sans"/>
              </a:rPr>
              <a:t>f</a:t>
            </a:r>
            <a:r>
              <a:rPr lang="en-US" sz="2399" strike="noStrike" u="none">
                <a:solidFill>
                  <a:srgbClr val="000000"/>
                </a:solidFill>
                <a:latin typeface="1883 Sans"/>
                <a:ea typeface="1883 Sans"/>
                <a:cs typeface="1883 Sans"/>
                <a:sym typeface="1883 Sans"/>
              </a:rPr>
              <a:t>or multi-week forecasts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Used an 80/20 train-test split f</a:t>
            </a:r>
            <a:r>
              <a:rPr lang="en-US" sz="2399" strike="noStrike" u="none">
                <a:solidFill>
                  <a:srgbClr val="000000"/>
                </a:solidFill>
                <a:latin typeface="1883 Sans"/>
                <a:ea typeface="1883 Sans"/>
                <a:cs typeface="1883 Sans"/>
                <a:sym typeface="1883 Sans"/>
              </a:rPr>
              <a:t>or ev</a:t>
            </a:r>
            <a:r>
              <a:rPr lang="en-US" sz="2399" strike="noStrike" u="none">
                <a:solidFill>
                  <a:srgbClr val="000000"/>
                </a:solidFill>
                <a:latin typeface="1883 Sans"/>
                <a:ea typeface="1883 Sans"/>
                <a:cs typeface="1883 Sans"/>
                <a:sym typeface="1883 Sans"/>
              </a:rPr>
              <a:t>al</a:t>
            </a:r>
            <a:r>
              <a:rPr lang="en-US" sz="2399" strike="noStrike" u="none">
                <a:solidFill>
                  <a:srgbClr val="000000"/>
                </a:solidFill>
                <a:latin typeface="1883 Sans"/>
                <a:ea typeface="1883 Sans"/>
                <a:cs typeface="1883 Sans"/>
                <a:sym typeface="1883 Sans"/>
              </a:rPr>
              <a:t>uation</a:t>
            </a:r>
          </a:p>
        </p:txBody>
      </p:sp>
      <p:grpSp>
        <p:nvGrpSpPr>
          <p:cNvPr name="Group 21" id="21"/>
          <p:cNvGrpSpPr/>
          <p:nvPr/>
        </p:nvGrpSpPr>
        <p:grpSpPr>
          <a:xfrm rot="0">
            <a:off x="1819513" y="2984084"/>
            <a:ext cx="12907186" cy="2819523"/>
            <a:chOff x="0" y="0"/>
            <a:chExt cx="3399424" cy="742591"/>
          </a:xfrm>
        </p:grpSpPr>
        <p:sp>
          <p:nvSpPr>
            <p:cNvPr name="Freeform 22" id="22"/>
            <p:cNvSpPr/>
            <p:nvPr/>
          </p:nvSpPr>
          <p:spPr>
            <a:xfrm flipH="false" flipV="false" rot="0">
              <a:off x="0" y="0"/>
              <a:ext cx="3399424" cy="742591"/>
            </a:xfrm>
            <a:custGeom>
              <a:avLst/>
              <a:gdLst/>
              <a:ahLst/>
              <a:cxnLst/>
              <a:rect r="r" b="b" t="t" l="l"/>
              <a:pathLst>
                <a:path h="742591" w="3399424">
                  <a:moveTo>
                    <a:pt x="30591" y="0"/>
                  </a:moveTo>
                  <a:lnTo>
                    <a:pt x="3368833" y="0"/>
                  </a:lnTo>
                  <a:cubicBezTo>
                    <a:pt x="3376946" y="0"/>
                    <a:pt x="3384727" y="3223"/>
                    <a:pt x="3390464" y="8960"/>
                  </a:cubicBezTo>
                  <a:cubicBezTo>
                    <a:pt x="3396200" y="14697"/>
                    <a:pt x="3399424" y="22477"/>
                    <a:pt x="3399424" y="30591"/>
                  </a:cubicBezTo>
                  <a:lnTo>
                    <a:pt x="3399424" y="712000"/>
                  </a:lnTo>
                  <a:cubicBezTo>
                    <a:pt x="3399424" y="720113"/>
                    <a:pt x="3396200" y="727894"/>
                    <a:pt x="3390464" y="733631"/>
                  </a:cubicBezTo>
                  <a:cubicBezTo>
                    <a:pt x="3384727" y="739368"/>
                    <a:pt x="3376946" y="742591"/>
                    <a:pt x="3368833" y="742591"/>
                  </a:cubicBezTo>
                  <a:lnTo>
                    <a:pt x="30591" y="742591"/>
                  </a:lnTo>
                  <a:cubicBezTo>
                    <a:pt x="13696" y="742591"/>
                    <a:pt x="0" y="728895"/>
                    <a:pt x="0" y="712000"/>
                  </a:cubicBezTo>
                  <a:lnTo>
                    <a:pt x="0" y="30591"/>
                  </a:lnTo>
                  <a:cubicBezTo>
                    <a:pt x="0" y="13696"/>
                    <a:pt x="13696" y="0"/>
                    <a:pt x="30591" y="0"/>
                  </a:cubicBezTo>
                  <a:close/>
                </a:path>
              </a:pathLst>
            </a:custGeom>
            <a:solidFill>
              <a:srgbClr val="E4FCFF"/>
            </a:solidFill>
          </p:spPr>
        </p:sp>
        <p:sp>
          <p:nvSpPr>
            <p:cNvPr name="TextBox 23" id="23"/>
            <p:cNvSpPr txBox="true"/>
            <p:nvPr/>
          </p:nvSpPr>
          <p:spPr>
            <a:xfrm>
              <a:off x="0" y="-38100"/>
              <a:ext cx="3399424" cy="780691"/>
            </a:xfrm>
            <a:prstGeom prst="rect">
              <a:avLst/>
            </a:prstGeom>
          </p:spPr>
          <p:txBody>
            <a:bodyPr anchor="ctr" rtlCol="false" tIns="50800" lIns="50800" bIns="50800" rIns="50800"/>
            <a:lstStyle/>
            <a:p>
              <a:pPr algn="ctr">
                <a:lnSpc>
                  <a:spcPts val="2799"/>
                </a:lnSpc>
              </a:pPr>
            </a:p>
          </p:txBody>
        </p:sp>
      </p:grpSp>
      <p:sp>
        <p:nvSpPr>
          <p:cNvPr name="TextBox 24" id="24"/>
          <p:cNvSpPr txBox="true"/>
          <p:nvPr/>
        </p:nvSpPr>
        <p:spPr>
          <a:xfrm rot="0">
            <a:off x="2251915" y="3149196"/>
            <a:ext cx="11948822" cy="2346961"/>
          </a:xfrm>
          <a:prstGeom prst="rect">
            <a:avLst/>
          </a:prstGeom>
        </p:spPr>
        <p:txBody>
          <a:bodyPr anchor="t" rtlCol="false" tIns="0" lIns="0" bIns="0" rIns="0">
            <a:spAutoFit/>
          </a:bodyPr>
          <a:lstStyle/>
          <a:p>
            <a:pPr algn="l" marL="518158" indent="-259079" lvl="1">
              <a:lnSpc>
                <a:spcPts val="4799"/>
              </a:lnSpc>
              <a:buFont typeface="Arial"/>
              <a:buChar char="•"/>
            </a:pPr>
            <a:r>
              <a:rPr lang="en-US" sz="2399">
                <a:solidFill>
                  <a:srgbClr val="000000"/>
                </a:solidFill>
                <a:latin typeface="1883 Sans"/>
                <a:ea typeface="1883 Sans"/>
                <a:cs typeface="1883 Sans"/>
                <a:sym typeface="1883 Sans"/>
              </a:rPr>
              <a:t>Calculated SEIR residuals: ac</a:t>
            </a:r>
            <a:r>
              <a:rPr lang="en-US" sz="2399" strike="noStrike" u="none">
                <a:solidFill>
                  <a:srgbClr val="000000"/>
                </a:solidFill>
                <a:latin typeface="1883 Sans"/>
                <a:ea typeface="1883 Sans"/>
                <a:cs typeface="1883 Sans"/>
                <a:sym typeface="1883 Sans"/>
              </a:rPr>
              <a:t>tual hospitalizations minus SEIR predictions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Trained a Gradient Boosting Regressor to predict and correct SEIR errors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Used five features: SEIR prediction, lagged cases, growth rate, and 2–3 week lagged hospitalizations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4776940" y="7844275"/>
            <a:ext cx="5422296" cy="54222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477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13130457" y="9065789"/>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336387" y="865611"/>
            <a:ext cx="12354914" cy="8555778"/>
          </a:xfrm>
          <a:custGeom>
            <a:avLst/>
            <a:gdLst/>
            <a:ahLst/>
            <a:cxnLst/>
            <a:rect r="r" b="b" t="t" l="l"/>
            <a:pathLst>
              <a:path h="8555778" w="12354914">
                <a:moveTo>
                  <a:pt x="0" y="0"/>
                </a:moveTo>
                <a:lnTo>
                  <a:pt x="12354914" y="0"/>
                </a:lnTo>
                <a:lnTo>
                  <a:pt x="12354914" y="8555778"/>
                </a:lnTo>
                <a:lnTo>
                  <a:pt x="0" y="8555778"/>
                </a:lnTo>
                <a:lnTo>
                  <a:pt x="0" y="0"/>
                </a:lnTo>
                <a:close/>
              </a:path>
            </a:pathLst>
          </a:custGeom>
          <a:blipFill>
            <a:blip r:embed="rId5"/>
            <a:stretch>
              <a:fillRect l="0" t="0" r="0" b="0"/>
            </a:stretch>
          </a:blipFill>
        </p:spPr>
      </p:sp>
      <p:sp>
        <p:nvSpPr>
          <p:cNvPr name="TextBox 13" id="13"/>
          <p:cNvSpPr txBox="true"/>
          <p:nvPr/>
        </p:nvSpPr>
        <p:spPr>
          <a:xfrm rot="0">
            <a:off x="13083919" y="4220439"/>
            <a:ext cx="4831189" cy="1731821"/>
          </a:xfrm>
          <a:prstGeom prst="rect">
            <a:avLst/>
          </a:prstGeom>
        </p:spPr>
        <p:txBody>
          <a:bodyPr anchor="t" rtlCol="false" tIns="0" lIns="0" bIns="0" rIns="0">
            <a:spAutoFit/>
          </a:bodyPr>
          <a:lstStyle/>
          <a:p>
            <a:pPr algn="l">
              <a:lnSpc>
                <a:spcPts val="6749"/>
              </a:lnSpc>
            </a:pPr>
            <a:r>
              <a:rPr lang="en-US" sz="5113">
                <a:solidFill>
                  <a:srgbClr val="000000"/>
                </a:solidFill>
                <a:latin typeface="Poppins"/>
                <a:ea typeface="Poppins"/>
                <a:cs typeface="Poppins"/>
                <a:sym typeface="Poppins"/>
              </a:rPr>
              <a:t>Hospitalization </a:t>
            </a:r>
          </a:p>
          <a:p>
            <a:pPr algn="l">
              <a:lnSpc>
                <a:spcPts val="6749"/>
              </a:lnSpc>
            </a:pPr>
            <a:r>
              <a:rPr lang="en-US" sz="5113">
                <a:solidFill>
                  <a:srgbClr val="000000"/>
                </a:solidFill>
                <a:latin typeface="Poppins"/>
                <a:ea typeface="Poppins"/>
                <a:cs typeface="Poppins"/>
                <a:sym typeface="Poppins"/>
              </a:rPr>
              <a:t>Forecast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4776940" y="7844275"/>
            <a:ext cx="5422296" cy="54222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477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13130457" y="9065789"/>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4242312" y="4048190"/>
            <a:ext cx="9817538" cy="2957382"/>
          </a:xfrm>
          <a:custGeom>
            <a:avLst/>
            <a:gdLst/>
            <a:ahLst/>
            <a:cxnLst/>
            <a:rect r="r" b="b" t="t" l="l"/>
            <a:pathLst>
              <a:path h="2957382" w="9817538">
                <a:moveTo>
                  <a:pt x="0" y="0"/>
                </a:moveTo>
                <a:lnTo>
                  <a:pt x="9817538" y="0"/>
                </a:lnTo>
                <a:lnTo>
                  <a:pt x="9817538" y="2957381"/>
                </a:lnTo>
                <a:lnTo>
                  <a:pt x="0" y="2957381"/>
                </a:lnTo>
                <a:lnTo>
                  <a:pt x="0" y="0"/>
                </a:lnTo>
                <a:close/>
              </a:path>
            </a:pathLst>
          </a:custGeom>
          <a:blipFill>
            <a:blip r:embed="rId5"/>
            <a:stretch>
              <a:fillRect l="0" t="0" r="0" b="0"/>
            </a:stretch>
          </a:blipFill>
        </p:spPr>
      </p:sp>
      <p:sp>
        <p:nvSpPr>
          <p:cNvPr name="TextBox 13" id="13"/>
          <p:cNvSpPr txBox="true"/>
          <p:nvPr/>
        </p:nvSpPr>
        <p:spPr>
          <a:xfrm rot="0">
            <a:off x="2079809" y="1648248"/>
            <a:ext cx="7064191" cy="884096"/>
          </a:xfrm>
          <a:prstGeom prst="rect">
            <a:avLst/>
          </a:prstGeom>
        </p:spPr>
        <p:txBody>
          <a:bodyPr anchor="t" rtlCol="false" tIns="0" lIns="0" bIns="0" rIns="0">
            <a:spAutoFit/>
          </a:bodyPr>
          <a:lstStyle/>
          <a:p>
            <a:pPr algn="l">
              <a:lnSpc>
                <a:spcPts val="6749"/>
              </a:lnSpc>
            </a:pPr>
            <a:r>
              <a:rPr lang="en-US" sz="5113">
                <a:solidFill>
                  <a:srgbClr val="000000"/>
                </a:solidFill>
                <a:latin typeface="Poppins"/>
                <a:ea typeface="Poppins"/>
                <a:cs typeface="Poppins"/>
                <a:sym typeface="Poppins"/>
              </a:rPr>
              <a:t>Surge Detection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4648830" y="5063434"/>
            <a:ext cx="7278339" cy="72783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291817" y="8510093"/>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5400000">
            <a:off x="11746036" y="4136642"/>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3639170" y="-5450766"/>
            <a:ext cx="7278339" cy="72783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451041" y="2978947"/>
            <a:ext cx="12122704" cy="4728001"/>
            <a:chOff x="0" y="0"/>
            <a:chExt cx="3192811" cy="1245235"/>
          </a:xfrm>
        </p:grpSpPr>
        <p:sp>
          <p:nvSpPr>
            <p:cNvPr name="Freeform 17" id="17"/>
            <p:cNvSpPr/>
            <p:nvPr/>
          </p:nvSpPr>
          <p:spPr>
            <a:xfrm flipH="false" flipV="false" rot="0">
              <a:off x="0" y="0"/>
              <a:ext cx="3192811" cy="1245235"/>
            </a:xfrm>
            <a:custGeom>
              <a:avLst/>
              <a:gdLst/>
              <a:ahLst/>
              <a:cxnLst/>
              <a:rect r="r" b="b" t="t" l="l"/>
              <a:pathLst>
                <a:path h="1245235" w="3192811">
                  <a:moveTo>
                    <a:pt x="32570" y="0"/>
                  </a:moveTo>
                  <a:lnTo>
                    <a:pt x="3160241" y="0"/>
                  </a:lnTo>
                  <a:cubicBezTo>
                    <a:pt x="3178229" y="0"/>
                    <a:pt x="3192811" y="14582"/>
                    <a:pt x="3192811" y="32570"/>
                  </a:cubicBezTo>
                  <a:lnTo>
                    <a:pt x="3192811" y="1212665"/>
                  </a:lnTo>
                  <a:cubicBezTo>
                    <a:pt x="3192811" y="1221303"/>
                    <a:pt x="3189379" y="1229587"/>
                    <a:pt x="3183271" y="1235695"/>
                  </a:cubicBezTo>
                  <a:cubicBezTo>
                    <a:pt x="3177163" y="1241803"/>
                    <a:pt x="3168879" y="1245235"/>
                    <a:pt x="3160241" y="1245235"/>
                  </a:cubicBezTo>
                  <a:lnTo>
                    <a:pt x="32570" y="1245235"/>
                  </a:lnTo>
                  <a:cubicBezTo>
                    <a:pt x="23932" y="1245235"/>
                    <a:pt x="15648" y="1241803"/>
                    <a:pt x="9540" y="1235695"/>
                  </a:cubicBezTo>
                  <a:cubicBezTo>
                    <a:pt x="3431" y="1229587"/>
                    <a:pt x="0" y="1221303"/>
                    <a:pt x="0" y="1212665"/>
                  </a:cubicBezTo>
                  <a:lnTo>
                    <a:pt x="0" y="32570"/>
                  </a:lnTo>
                  <a:cubicBezTo>
                    <a:pt x="0" y="23932"/>
                    <a:pt x="3431" y="15648"/>
                    <a:pt x="9540" y="9540"/>
                  </a:cubicBezTo>
                  <a:cubicBezTo>
                    <a:pt x="15648" y="3431"/>
                    <a:pt x="23932" y="0"/>
                    <a:pt x="32570" y="0"/>
                  </a:cubicBezTo>
                  <a:close/>
                </a:path>
              </a:pathLst>
            </a:custGeom>
            <a:solidFill>
              <a:srgbClr val="E4FCFF"/>
            </a:solidFill>
          </p:spPr>
        </p:sp>
        <p:sp>
          <p:nvSpPr>
            <p:cNvPr name="TextBox 18" id="18"/>
            <p:cNvSpPr txBox="true"/>
            <p:nvPr/>
          </p:nvSpPr>
          <p:spPr>
            <a:xfrm>
              <a:off x="0" y="-38100"/>
              <a:ext cx="3192811" cy="1283335"/>
            </a:xfrm>
            <a:prstGeom prst="rect">
              <a:avLst/>
            </a:prstGeom>
          </p:spPr>
          <p:txBody>
            <a:bodyPr anchor="ctr" rtlCol="false" tIns="50800" lIns="50800" bIns="50800" rIns="50800"/>
            <a:lstStyle/>
            <a:p>
              <a:pPr algn="ctr">
                <a:lnSpc>
                  <a:spcPts val="2799"/>
                </a:lnSpc>
              </a:pPr>
            </a:p>
          </p:txBody>
        </p:sp>
      </p:grpSp>
      <p:sp>
        <p:nvSpPr>
          <p:cNvPr name="TextBox 19" id="19"/>
          <p:cNvSpPr txBox="true"/>
          <p:nvPr/>
        </p:nvSpPr>
        <p:spPr>
          <a:xfrm rot="0">
            <a:off x="2824715" y="3211535"/>
            <a:ext cx="11270456" cy="4147186"/>
          </a:xfrm>
          <a:prstGeom prst="rect">
            <a:avLst/>
          </a:prstGeom>
        </p:spPr>
        <p:txBody>
          <a:bodyPr anchor="t" rtlCol="false" tIns="0" lIns="0" bIns="0" rIns="0">
            <a:spAutoFit/>
          </a:bodyPr>
          <a:lstStyle/>
          <a:p>
            <a:pPr algn="l" marL="518158" indent="-259079" lvl="1">
              <a:lnSpc>
                <a:spcPts val="4799"/>
              </a:lnSpc>
              <a:buFont typeface="Arial"/>
              <a:buChar char="•"/>
            </a:pPr>
            <a:r>
              <a:rPr lang="en-US" sz="2399">
                <a:solidFill>
                  <a:srgbClr val="000000"/>
                </a:solidFill>
                <a:latin typeface="1883 Sans"/>
                <a:ea typeface="1883 Sans"/>
                <a:cs typeface="1883 Sans"/>
                <a:sym typeface="1883 Sans"/>
              </a:rPr>
              <a:t>Metric: MAE on 20% ho</a:t>
            </a:r>
            <a:r>
              <a:rPr lang="en-US" sz="2399" strike="noStrike" u="none">
                <a:solidFill>
                  <a:srgbClr val="000000"/>
                </a:solidFill>
                <a:latin typeface="1883 Sans"/>
                <a:ea typeface="1883 Sans"/>
                <a:cs typeface="1883 Sans"/>
                <a:sym typeface="1883 Sans"/>
              </a:rPr>
              <a:t>ldout set</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Corrected model MAE &lt; SEIR baseline — gradient boosting layer adds value</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90% CI coverage target: ≥90% of holdout actuals fall inside the band</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Holdout CI is fixed width (± 1.645 × residual_std) — no horizon scaling</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√(weeks ahead) scaling applies only to the forward forecast, not evaluation</a:t>
            </a:r>
          </a:p>
        </p:txBody>
      </p:sp>
      <p:sp>
        <p:nvSpPr>
          <p:cNvPr name="Freeform 20" id="20"/>
          <p:cNvSpPr/>
          <p:nvPr/>
        </p:nvSpPr>
        <p:spPr>
          <a:xfrm flipH="false" flipV="false" rot="0">
            <a:off x="6927838" y="7358721"/>
            <a:ext cx="7167333" cy="2602002"/>
          </a:xfrm>
          <a:custGeom>
            <a:avLst/>
            <a:gdLst/>
            <a:ahLst/>
            <a:cxnLst/>
            <a:rect r="r" b="b" t="t" l="l"/>
            <a:pathLst>
              <a:path h="2602002" w="7167333">
                <a:moveTo>
                  <a:pt x="0" y="0"/>
                </a:moveTo>
                <a:lnTo>
                  <a:pt x="7167333" y="0"/>
                </a:lnTo>
                <a:lnTo>
                  <a:pt x="7167333" y="2602002"/>
                </a:lnTo>
                <a:lnTo>
                  <a:pt x="0" y="2602002"/>
                </a:lnTo>
                <a:lnTo>
                  <a:pt x="0" y="0"/>
                </a:lnTo>
                <a:close/>
              </a:path>
            </a:pathLst>
          </a:custGeom>
          <a:blipFill>
            <a:blip r:embed="rId5"/>
            <a:stretch>
              <a:fillRect l="0" t="0" r="0" b="0"/>
            </a:stretch>
          </a:blipFill>
        </p:spPr>
      </p:sp>
      <p:sp>
        <p:nvSpPr>
          <p:cNvPr name="TextBox 21" id="21"/>
          <p:cNvSpPr txBox="true"/>
          <p:nvPr/>
        </p:nvSpPr>
        <p:spPr>
          <a:xfrm rot="0">
            <a:off x="2451041" y="1548578"/>
            <a:ext cx="11644130" cy="1039844"/>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Model Evaluation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4648830" y="5063434"/>
            <a:ext cx="7278339" cy="72783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291817" y="8510093"/>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5400000">
            <a:off x="11746036" y="4136642"/>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3639170" y="-5450766"/>
            <a:ext cx="7278339" cy="72783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451041" y="2465136"/>
            <a:ext cx="12122704" cy="5519862"/>
            <a:chOff x="0" y="0"/>
            <a:chExt cx="3192811" cy="1453791"/>
          </a:xfrm>
        </p:grpSpPr>
        <p:sp>
          <p:nvSpPr>
            <p:cNvPr name="Freeform 17" id="17"/>
            <p:cNvSpPr/>
            <p:nvPr/>
          </p:nvSpPr>
          <p:spPr>
            <a:xfrm flipH="false" flipV="false" rot="0">
              <a:off x="0" y="0"/>
              <a:ext cx="3192811" cy="1453791"/>
            </a:xfrm>
            <a:custGeom>
              <a:avLst/>
              <a:gdLst/>
              <a:ahLst/>
              <a:cxnLst/>
              <a:rect r="r" b="b" t="t" l="l"/>
              <a:pathLst>
                <a:path h="1453791" w="3192811">
                  <a:moveTo>
                    <a:pt x="32570" y="0"/>
                  </a:moveTo>
                  <a:lnTo>
                    <a:pt x="3160241" y="0"/>
                  </a:lnTo>
                  <a:cubicBezTo>
                    <a:pt x="3178229" y="0"/>
                    <a:pt x="3192811" y="14582"/>
                    <a:pt x="3192811" y="32570"/>
                  </a:cubicBezTo>
                  <a:lnTo>
                    <a:pt x="3192811" y="1421221"/>
                  </a:lnTo>
                  <a:cubicBezTo>
                    <a:pt x="3192811" y="1439209"/>
                    <a:pt x="3178229" y="1453791"/>
                    <a:pt x="3160241" y="1453791"/>
                  </a:cubicBezTo>
                  <a:lnTo>
                    <a:pt x="32570" y="1453791"/>
                  </a:lnTo>
                  <a:cubicBezTo>
                    <a:pt x="23932" y="1453791"/>
                    <a:pt x="15648" y="1450359"/>
                    <a:pt x="9540" y="1444251"/>
                  </a:cubicBezTo>
                  <a:cubicBezTo>
                    <a:pt x="3431" y="1438143"/>
                    <a:pt x="0" y="1429859"/>
                    <a:pt x="0" y="1421221"/>
                  </a:cubicBezTo>
                  <a:lnTo>
                    <a:pt x="0" y="32570"/>
                  </a:lnTo>
                  <a:cubicBezTo>
                    <a:pt x="0" y="23932"/>
                    <a:pt x="3431" y="15648"/>
                    <a:pt x="9540" y="9540"/>
                  </a:cubicBezTo>
                  <a:cubicBezTo>
                    <a:pt x="15648" y="3431"/>
                    <a:pt x="23932" y="0"/>
                    <a:pt x="32570" y="0"/>
                  </a:cubicBezTo>
                  <a:close/>
                </a:path>
              </a:pathLst>
            </a:custGeom>
            <a:solidFill>
              <a:srgbClr val="E4FCFF"/>
            </a:solidFill>
          </p:spPr>
        </p:sp>
        <p:sp>
          <p:nvSpPr>
            <p:cNvPr name="TextBox 18" id="18"/>
            <p:cNvSpPr txBox="true"/>
            <p:nvPr/>
          </p:nvSpPr>
          <p:spPr>
            <a:xfrm>
              <a:off x="0" y="-38100"/>
              <a:ext cx="3192811" cy="1491891"/>
            </a:xfrm>
            <a:prstGeom prst="rect">
              <a:avLst/>
            </a:prstGeom>
          </p:spPr>
          <p:txBody>
            <a:bodyPr anchor="ctr" rtlCol="false" tIns="50800" lIns="50800" bIns="50800" rIns="50800"/>
            <a:lstStyle/>
            <a:p>
              <a:pPr algn="ctr">
                <a:lnSpc>
                  <a:spcPts val="2799"/>
                </a:lnSpc>
              </a:pPr>
            </a:p>
          </p:txBody>
        </p:sp>
      </p:grpSp>
      <p:sp>
        <p:nvSpPr>
          <p:cNvPr name="TextBox 19" id="19"/>
          <p:cNvSpPr txBox="true"/>
          <p:nvPr/>
        </p:nvSpPr>
        <p:spPr>
          <a:xfrm rot="0">
            <a:off x="2824715" y="2697724"/>
            <a:ext cx="11270456" cy="4747261"/>
          </a:xfrm>
          <a:prstGeom prst="rect">
            <a:avLst/>
          </a:prstGeom>
        </p:spPr>
        <p:txBody>
          <a:bodyPr anchor="t" rtlCol="false" tIns="0" lIns="0" bIns="0" rIns="0">
            <a:spAutoFit/>
          </a:bodyPr>
          <a:lstStyle/>
          <a:p>
            <a:pPr algn="l" marL="518158" indent="-259079" lvl="1">
              <a:lnSpc>
                <a:spcPts val="4799"/>
              </a:lnSpc>
              <a:buFont typeface="Arial"/>
              <a:buChar char="•"/>
            </a:pPr>
            <a:r>
              <a:rPr lang="en-US" sz="2399">
                <a:solidFill>
                  <a:srgbClr val="000000"/>
                </a:solidFill>
                <a:latin typeface="1883 Sans"/>
                <a:ea typeface="1883 Sans"/>
                <a:cs typeface="1883 Sans"/>
                <a:sym typeface="1883 Sans"/>
              </a:rPr>
              <a:t>Capacity = 75th percentile of hospita</a:t>
            </a:r>
            <a:r>
              <a:rPr lang="en-US" sz="2399" strike="noStrike" u="none">
                <a:solidFill>
                  <a:srgbClr val="000000"/>
                </a:solidFill>
                <a:latin typeface="1883 Sans"/>
                <a:ea typeface="1883 Sans"/>
                <a:cs typeface="1883 Sans"/>
                <a:sym typeface="1883 Sans"/>
              </a:rPr>
              <a:t>lizations over the most recent 52 weeks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P(breach) = normal survival function applied to each forecast week</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Bars turn red when P(breach) &gt; 0.5 — the actionable alert threshold</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Breach probability uses fixed residual_std — does not compound with horizon</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Tiered response: low → monitor; moderate → prepare; high → activate protocols</a:t>
            </a:r>
          </a:p>
        </p:txBody>
      </p:sp>
      <p:sp>
        <p:nvSpPr>
          <p:cNvPr name="Freeform 20" id="20"/>
          <p:cNvSpPr/>
          <p:nvPr/>
        </p:nvSpPr>
        <p:spPr>
          <a:xfrm flipH="false" flipV="false" rot="0">
            <a:off x="8880638" y="7053787"/>
            <a:ext cx="6572604" cy="3197483"/>
          </a:xfrm>
          <a:custGeom>
            <a:avLst/>
            <a:gdLst/>
            <a:ahLst/>
            <a:cxnLst/>
            <a:rect r="r" b="b" t="t" l="l"/>
            <a:pathLst>
              <a:path h="3197483" w="6572604">
                <a:moveTo>
                  <a:pt x="0" y="0"/>
                </a:moveTo>
                <a:lnTo>
                  <a:pt x="6572604" y="0"/>
                </a:lnTo>
                <a:lnTo>
                  <a:pt x="6572604" y="3197483"/>
                </a:lnTo>
                <a:lnTo>
                  <a:pt x="0" y="3197483"/>
                </a:lnTo>
                <a:lnTo>
                  <a:pt x="0" y="0"/>
                </a:lnTo>
                <a:close/>
              </a:path>
            </a:pathLst>
          </a:custGeom>
          <a:blipFill>
            <a:blip r:embed="rId5"/>
            <a:stretch>
              <a:fillRect l="-2195" t="-6500" r="-4305" b="0"/>
            </a:stretch>
          </a:blipFill>
        </p:spPr>
      </p:sp>
      <p:sp>
        <p:nvSpPr>
          <p:cNvPr name="TextBox 21" id="21"/>
          <p:cNvSpPr txBox="true"/>
          <p:nvPr/>
        </p:nvSpPr>
        <p:spPr>
          <a:xfrm rot="0">
            <a:off x="2451041" y="1034767"/>
            <a:ext cx="11644130" cy="1039844"/>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Capacity Breach Probability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4648830" y="5063434"/>
            <a:ext cx="7278339" cy="72783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291817" y="8510093"/>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5400000">
            <a:off x="998375" y="3523319"/>
            <a:ext cx="1473766" cy="385021"/>
          </a:xfrm>
          <a:custGeom>
            <a:avLst/>
            <a:gdLst/>
            <a:ahLst/>
            <a:cxnLst/>
            <a:rect r="r" b="b" t="t" l="l"/>
            <a:pathLst>
              <a:path h="385021" w="1473766">
                <a:moveTo>
                  <a:pt x="0" y="0"/>
                </a:moveTo>
                <a:lnTo>
                  <a:pt x="1473767" y="0"/>
                </a:lnTo>
                <a:lnTo>
                  <a:pt x="1473767"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3639170" y="-5450766"/>
            <a:ext cx="7278339" cy="72783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451041" y="2978947"/>
            <a:ext cx="6692959" cy="5494118"/>
            <a:chOff x="0" y="0"/>
            <a:chExt cx="1762755" cy="1447010"/>
          </a:xfrm>
        </p:grpSpPr>
        <p:sp>
          <p:nvSpPr>
            <p:cNvPr name="Freeform 17" id="17"/>
            <p:cNvSpPr/>
            <p:nvPr/>
          </p:nvSpPr>
          <p:spPr>
            <a:xfrm flipH="false" flipV="false" rot="0">
              <a:off x="0" y="0"/>
              <a:ext cx="1762755" cy="1447011"/>
            </a:xfrm>
            <a:custGeom>
              <a:avLst/>
              <a:gdLst/>
              <a:ahLst/>
              <a:cxnLst/>
              <a:rect r="r" b="b" t="t" l="l"/>
              <a:pathLst>
                <a:path h="1447011" w="1762755">
                  <a:moveTo>
                    <a:pt x="58993" y="0"/>
                  </a:moveTo>
                  <a:lnTo>
                    <a:pt x="1703762" y="0"/>
                  </a:lnTo>
                  <a:cubicBezTo>
                    <a:pt x="1719407" y="0"/>
                    <a:pt x="1734413" y="6215"/>
                    <a:pt x="1745476" y="17279"/>
                  </a:cubicBezTo>
                  <a:cubicBezTo>
                    <a:pt x="1756539" y="28342"/>
                    <a:pt x="1762755" y="43347"/>
                    <a:pt x="1762755" y="58993"/>
                  </a:cubicBezTo>
                  <a:lnTo>
                    <a:pt x="1762755" y="1388018"/>
                  </a:lnTo>
                  <a:cubicBezTo>
                    <a:pt x="1762755" y="1420598"/>
                    <a:pt x="1736342" y="1447011"/>
                    <a:pt x="1703762" y="1447011"/>
                  </a:cubicBezTo>
                  <a:lnTo>
                    <a:pt x="58993" y="1447011"/>
                  </a:lnTo>
                  <a:cubicBezTo>
                    <a:pt x="43347" y="1447011"/>
                    <a:pt x="28342" y="1440795"/>
                    <a:pt x="17279" y="1429732"/>
                  </a:cubicBezTo>
                  <a:cubicBezTo>
                    <a:pt x="6215" y="1418669"/>
                    <a:pt x="0" y="1403663"/>
                    <a:pt x="0" y="1388018"/>
                  </a:cubicBezTo>
                  <a:lnTo>
                    <a:pt x="0" y="58993"/>
                  </a:lnTo>
                  <a:cubicBezTo>
                    <a:pt x="0" y="26412"/>
                    <a:pt x="26412" y="0"/>
                    <a:pt x="58993" y="0"/>
                  </a:cubicBezTo>
                  <a:close/>
                </a:path>
              </a:pathLst>
            </a:custGeom>
            <a:solidFill>
              <a:srgbClr val="E4FCFF"/>
            </a:solidFill>
          </p:spPr>
        </p:sp>
        <p:sp>
          <p:nvSpPr>
            <p:cNvPr name="TextBox 18" id="18"/>
            <p:cNvSpPr txBox="true"/>
            <p:nvPr/>
          </p:nvSpPr>
          <p:spPr>
            <a:xfrm>
              <a:off x="0" y="-38100"/>
              <a:ext cx="1762755" cy="1485110"/>
            </a:xfrm>
            <a:prstGeom prst="rect">
              <a:avLst/>
            </a:prstGeom>
          </p:spPr>
          <p:txBody>
            <a:bodyPr anchor="ctr" rtlCol="false" tIns="50800" lIns="50800" bIns="50800" rIns="50800"/>
            <a:lstStyle/>
            <a:p>
              <a:pPr algn="ctr">
                <a:lnSpc>
                  <a:spcPts val="2799"/>
                </a:lnSpc>
              </a:pPr>
            </a:p>
          </p:txBody>
        </p:sp>
      </p:grpSp>
      <p:sp>
        <p:nvSpPr>
          <p:cNvPr name="TextBox 19" id="19"/>
          <p:cNvSpPr txBox="true"/>
          <p:nvPr/>
        </p:nvSpPr>
        <p:spPr>
          <a:xfrm rot="0">
            <a:off x="2451041" y="1548578"/>
            <a:ext cx="11644130" cy="1039844"/>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Limitations &amp; Model Drift</a:t>
            </a:r>
          </a:p>
        </p:txBody>
      </p:sp>
      <p:sp>
        <p:nvSpPr>
          <p:cNvPr name="TextBox 20" id="20"/>
          <p:cNvSpPr txBox="true"/>
          <p:nvPr/>
        </p:nvSpPr>
        <p:spPr>
          <a:xfrm rot="0">
            <a:off x="2824715" y="3211535"/>
            <a:ext cx="5838684" cy="4747261"/>
          </a:xfrm>
          <a:prstGeom prst="rect">
            <a:avLst/>
          </a:prstGeom>
        </p:spPr>
        <p:txBody>
          <a:bodyPr anchor="t" rtlCol="false" tIns="0" lIns="0" bIns="0" rIns="0">
            <a:spAutoFit/>
          </a:bodyPr>
          <a:lstStyle/>
          <a:p>
            <a:pPr algn="l" marL="518158" indent="-259079" lvl="1">
              <a:lnSpc>
                <a:spcPts val="4799"/>
              </a:lnSpc>
              <a:buFont typeface="Arial"/>
              <a:buChar char="•"/>
            </a:pPr>
            <a:r>
              <a:rPr lang="en-US" sz="2399">
                <a:solidFill>
                  <a:srgbClr val="000000"/>
                </a:solidFill>
                <a:latin typeface="1883 Sans"/>
                <a:ea typeface="1883 Sans"/>
                <a:cs typeface="1883 Sans"/>
                <a:sym typeface="1883 Sans"/>
              </a:rPr>
              <a:t>β is fixed within each wave, so it m</a:t>
            </a:r>
            <a:r>
              <a:rPr lang="en-US" sz="2399" strike="noStrike" u="none">
                <a:solidFill>
                  <a:srgbClr val="000000"/>
                </a:solidFill>
                <a:latin typeface="1883 Sans"/>
                <a:ea typeface="1883 Sans"/>
                <a:cs typeface="1883 Sans"/>
                <a:sym typeface="1883 Sans"/>
              </a:rPr>
              <a:t>ay miss mid-wave transmission changes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Gradient boosting may overfit pandemic-specific patterns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HHS Protect data is self-reported with known completeness gaps — forecasts inherit those limitations</a:t>
            </a:r>
          </a:p>
        </p:txBody>
      </p:sp>
      <p:grpSp>
        <p:nvGrpSpPr>
          <p:cNvPr name="Group 21" id="21"/>
          <p:cNvGrpSpPr/>
          <p:nvPr/>
        </p:nvGrpSpPr>
        <p:grpSpPr>
          <a:xfrm rot="0">
            <a:off x="14095171" y="6659130"/>
            <a:ext cx="3722446" cy="3627870"/>
            <a:chOff x="0" y="0"/>
            <a:chExt cx="429446" cy="418535"/>
          </a:xfrm>
        </p:grpSpPr>
        <p:sp>
          <p:nvSpPr>
            <p:cNvPr name="Freeform 22" id="22"/>
            <p:cNvSpPr/>
            <p:nvPr/>
          </p:nvSpPr>
          <p:spPr>
            <a:xfrm flipH="false" flipV="false" rot="0">
              <a:off x="0" y="0"/>
              <a:ext cx="429446" cy="418535"/>
            </a:xfrm>
            <a:custGeom>
              <a:avLst/>
              <a:gdLst/>
              <a:ahLst/>
              <a:cxnLst/>
              <a:rect r="r" b="b" t="t" l="l"/>
              <a:pathLst>
                <a:path h="418535" w="429446">
                  <a:moveTo>
                    <a:pt x="214723" y="0"/>
                  </a:moveTo>
                  <a:cubicBezTo>
                    <a:pt x="96135" y="0"/>
                    <a:pt x="0" y="93692"/>
                    <a:pt x="0" y="209268"/>
                  </a:cubicBezTo>
                  <a:cubicBezTo>
                    <a:pt x="0" y="324843"/>
                    <a:pt x="96135" y="418535"/>
                    <a:pt x="214723" y="418535"/>
                  </a:cubicBezTo>
                  <a:cubicBezTo>
                    <a:pt x="333311" y="418535"/>
                    <a:pt x="429446" y="324843"/>
                    <a:pt x="429446" y="209268"/>
                  </a:cubicBezTo>
                  <a:cubicBezTo>
                    <a:pt x="429446" y="93692"/>
                    <a:pt x="333311" y="0"/>
                    <a:pt x="214723" y="0"/>
                  </a:cubicBezTo>
                  <a:close/>
                </a:path>
              </a:pathLst>
            </a:custGeom>
            <a:blipFill>
              <a:blip r:embed="rId5"/>
              <a:stretch>
                <a:fillRect l="-23845" t="0" r="-65504" b="0"/>
              </a:stretch>
            </a:blipFill>
          </p:spPr>
        </p:sp>
      </p:grpSp>
      <p:grpSp>
        <p:nvGrpSpPr>
          <p:cNvPr name="Group 23" id="23"/>
          <p:cNvGrpSpPr/>
          <p:nvPr/>
        </p:nvGrpSpPr>
        <p:grpSpPr>
          <a:xfrm rot="0">
            <a:off x="9779472" y="2728886"/>
            <a:ext cx="6176922" cy="6019985"/>
            <a:chOff x="0" y="0"/>
            <a:chExt cx="429446" cy="418535"/>
          </a:xfrm>
        </p:grpSpPr>
        <p:sp>
          <p:nvSpPr>
            <p:cNvPr name="Freeform 24" id="24"/>
            <p:cNvSpPr/>
            <p:nvPr/>
          </p:nvSpPr>
          <p:spPr>
            <a:xfrm flipH="false" flipV="false" rot="0">
              <a:off x="0" y="0"/>
              <a:ext cx="429446" cy="418535"/>
            </a:xfrm>
            <a:custGeom>
              <a:avLst/>
              <a:gdLst/>
              <a:ahLst/>
              <a:cxnLst/>
              <a:rect r="r" b="b" t="t" l="l"/>
              <a:pathLst>
                <a:path h="418535" w="429446">
                  <a:moveTo>
                    <a:pt x="214723" y="0"/>
                  </a:moveTo>
                  <a:cubicBezTo>
                    <a:pt x="96135" y="0"/>
                    <a:pt x="0" y="93692"/>
                    <a:pt x="0" y="209268"/>
                  </a:cubicBezTo>
                  <a:cubicBezTo>
                    <a:pt x="0" y="324843"/>
                    <a:pt x="96135" y="418535"/>
                    <a:pt x="214723" y="418535"/>
                  </a:cubicBezTo>
                  <a:cubicBezTo>
                    <a:pt x="333311" y="418535"/>
                    <a:pt x="429446" y="324843"/>
                    <a:pt x="429446" y="209268"/>
                  </a:cubicBezTo>
                  <a:cubicBezTo>
                    <a:pt x="429446" y="93692"/>
                    <a:pt x="333311" y="0"/>
                    <a:pt x="214723" y="0"/>
                  </a:cubicBezTo>
                  <a:close/>
                </a:path>
              </a:pathLst>
            </a:custGeom>
            <a:blipFill>
              <a:blip r:embed="rId6"/>
              <a:stretch>
                <a:fillRect l="-33894" t="0" r="-33894"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3639170" y="5063434"/>
            <a:ext cx="7278339" cy="72783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291817" y="8510093"/>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5400000">
            <a:off x="11746036" y="4136642"/>
            <a:ext cx="1473766" cy="385021"/>
          </a:xfrm>
          <a:custGeom>
            <a:avLst/>
            <a:gdLst/>
            <a:ahLst/>
            <a:cxnLst/>
            <a:rect r="r" b="b" t="t" l="l"/>
            <a:pathLst>
              <a:path h="385021" w="1473766">
                <a:moveTo>
                  <a:pt x="0" y="0"/>
                </a:moveTo>
                <a:lnTo>
                  <a:pt x="1473766" y="0"/>
                </a:lnTo>
                <a:lnTo>
                  <a:pt x="1473766" y="385022"/>
                </a:lnTo>
                <a:lnTo>
                  <a:pt x="0" y="38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4346409" y="-2610470"/>
            <a:ext cx="7278339" cy="72783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451041" y="3417437"/>
            <a:ext cx="12122704" cy="4283659"/>
            <a:chOff x="0" y="0"/>
            <a:chExt cx="3192811" cy="1128207"/>
          </a:xfrm>
        </p:grpSpPr>
        <p:sp>
          <p:nvSpPr>
            <p:cNvPr name="Freeform 17" id="17"/>
            <p:cNvSpPr/>
            <p:nvPr/>
          </p:nvSpPr>
          <p:spPr>
            <a:xfrm flipH="false" flipV="false" rot="0">
              <a:off x="0" y="0"/>
              <a:ext cx="3192811" cy="1128207"/>
            </a:xfrm>
            <a:custGeom>
              <a:avLst/>
              <a:gdLst/>
              <a:ahLst/>
              <a:cxnLst/>
              <a:rect r="r" b="b" t="t" l="l"/>
              <a:pathLst>
                <a:path h="1128207" w="3192811">
                  <a:moveTo>
                    <a:pt x="32570" y="0"/>
                  </a:moveTo>
                  <a:lnTo>
                    <a:pt x="3160241" y="0"/>
                  </a:lnTo>
                  <a:cubicBezTo>
                    <a:pt x="3178229" y="0"/>
                    <a:pt x="3192811" y="14582"/>
                    <a:pt x="3192811" y="32570"/>
                  </a:cubicBezTo>
                  <a:lnTo>
                    <a:pt x="3192811" y="1095636"/>
                  </a:lnTo>
                  <a:cubicBezTo>
                    <a:pt x="3192811" y="1104275"/>
                    <a:pt x="3189379" y="1112559"/>
                    <a:pt x="3183271" y="1118667"/>
                  </a:cubicBezTo>
                  <a:cubicBezTo>
                    <a:pt x="3177163" y="1124775"/>
                    <a:pt x="3168879" y="1128207"/>
                    <a:pt x="3160241" y="1128207"/>
                  </a:cubicBezTo>
                  <a:lnTo>
                    <a:pt x="32570" y="1128207"/>
                  </a:lnTo>
                  <a:cubicBezTo>
                    <a:pt x="23932" y="1128207"/>
                    <a:pt x="15648" y="1124775"/>
                    <a:pt x="9540" y="1118667"/>
                  </a:cubicBezTo>
                  <a:cubicBezTo>
                    <a:pt x="3431" y="1112559"/>
                    <a:pt x="0" y="1104275"/>
                    <a:pt x="0" y="1095636"/>
                  </a:cubicBezTo>
                  <a:lnTo>
                    <a:pt x="0" y="32570"/>
                  </a:lnTo>
                  <a:cubicBezTo>
                    <a:pt x="0" y="23932"/>
                    <a:pt x="3431" y="15648"/>
                    <a:pt x="9540" y="9540"/>
                  </a:cubicBezTo>
                  <a:cubicBezTo>
                    <a:pt x="15648" y="3431"/>
                    <a:pt x="23932" y="0"/>
                    <a:pt x="32570" y="0"/>
                  </a:cubicBezTo>
                  <a:close/>
                </a:path>
              </a:pathLst>
            </a:custGeom>
            <a:solidFill>
              <a:srgbClr val="E4FCFF"/>
            </a:solidFill>
          </p:spPr>
        </p:sp>
        <p:sp>
          <p:nvSpPr>
            <p:cNvPr name="TextBox 18" id="18"/>
            <p:cNvSpPr txBox="true"/>
            <p:nvPr/>
          </p:nvSpPr>
          <p:spPr>
            <a:xfrm>
              <a:off x="0" y="-38100"/>
              <a:ext cx="3192811" cy="1166307"/>
            </a:xfrm>
            <a:prstGeom prst="rect">
              <a:avLst/>
            </a:prstGeom>
          </p:spPr>
          <p:txBody>
            <a:bodyPr anchor="ctr" rtlCol="false" tIns="50800" lIns="50800" bIns="50800" rIns="50800"/>
            <a:lstStyle/>
            <a:p>
              <a:pPr algn="ctr">
                <a:lnSpc>
                  <a:spcPts val="2799"/>
                </a:lnSpc>
              </a:pPr>
            </a:p>
          </p:txBody>
        </p:sp>
      </p:grpSp>
      <p:sp>
        <p:nvSpPr>
          <p:cNvPr name="TextBox 19" id="19"/>
          <p:cNvSpPr txBox="true"/>
          <p:nvPr/>
        </p:nvSpPr>
        <p:spPr>
          <a:xfrm rot="0">
            <a:off x="2451041" y="1987068"/>
            <a:ext cx="11644130" cy="1039844"/>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Ethical Considerations</a:t>
            </a:r>
          </a:p>
        </p:txBody>
      </p:sp>
      <p:sp>
        <p:nvSpPr>
          <p:cNvPr name="TextBox 20" id="20"/>
          <p:cNvSpPr txBox="true"/>
          <p:nvPr/>
        </p:nvSpPr>
        <p:spPr>
          <a:xfrm rot="0">
            <a:off x="2824715" y="3650025"/>
            <a:ext cx="11270456" cy="3547111"/>
          </a:xfrm>
          <a:prstGeom prst="rect">
            <a:avLst/>
          </a:prstGeom>
        </p:spPr>
        <p:txBody>
          <a:bodyPr anchor="t" rtlCol="false" tIns="0" lIns="0" bIns="0" rIns="0">
            <a:spAutoFit/>
          </a:bodyPr>
          <a:lstStyle/>
          <a:p>
            <a:pPr algn="l" marL="518158" indent="-259079" lvl="1">
              <a:lnSpc>
                <a:spcPts val="4799"/>
              </a:lnSpc>
              <a:buFont typeface="Arial"/>
              <a:buChar char="•"/>
            </a:pPr>
            <a:r>
              <a:rPr lang="en-US" sz="2399">
                <a:solidFill>
                  <a:srgbClr val="000000"/>
                </a:solidFill>
                <a:latin typeface="1883 Sans"/>
                <a:ea typeface="1883 Sans"/>
                <a:cs typeface="1883 Sans"/>
                <a:sym typeface="1883 Sans"/>
              </a:rPr>
              <a:t>Forecasts can shape behavior, not just predict it</a:t>
            </a:r>
          </a:p>
          <a:p>
            <a:pPr algn="l" marL="518158" indent="-259079" lvl="1">
              <a:lnSpc>
                <a:spcPts val="4799"/>
              </a:lnSpc>
              <a:buFont typeface="Arial"/>
              <a:buChar char="•"/>
            </a:pPr>
            <a:r>
              <a:rPr lang="en-US" sz="2399">
                <a:solidFill>
                  <a:srgbClr val="000000"/>
                </a:solidFill>
                <a:latin typeface="1883 Sans"/>
                <a:ea typeface="1883 Sans"/>
                <a:cs typeface="1883 Sans"/>
                <a:sym typeface="1883 Sans"/>
              </a:rPr>
              <a:t>Errors have unequ</a:t>
            </a:r>
            <a:r>
              <a:rPr lang="en-US" sz="2399" strike="noStrike" u="none">
                <a:solidFill>
                  <a:srgbClr val="000000"/>
                </a:solidFill>
                <a:latin typeface="1883 Sans"/>
                <a:ea typeface="1883 Sans"/>
                <a:cs typeface="1883 Sans"/>
                <a:sym typeface="1883 Sans"/>
              </a:rPr>
              <a:t>al costs: overestimates waste resources; underestimates risk lives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Uncertainty must be shown clearly to avoid treating forecasts as certainties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County-level SEIR models can hide disparities across demographic groups</a:t>
            </a:r>
          </a:p>
        </p:txBody>
      </p:sp>
      <p:grpSp>
        <p:nvGrpSpPr>
          <p:cNvPr name="Group 21" id="21"/>
          <p:cNvGrpSpPr/>
          <p:nvPr/>
        </p:nvGrpSpPr>
        <p:grpSpPr>
          <a:xfrm rot="0">
            <a:off x="13827487" y="5792128"/>
            <a:ext cx="4460513" cy="4347185"/>
            <a:chOff x="0" y="0"/>
            <a:chExt cx="429446" cy="418535"/>
          </a:xfrm>
        </p:grpSpPr>
        <p:sp>
          <p:nvSpPr>
            <p:cNvPr name="Freeform 22" id="22"/>
            <p:cNvSpPr/>
            <p:nvPr/>
          </p:nvSpPr>
          <p:spPr>
            <a:xfrm flipH="false" flipV="false" rot="0">
              <a:off x="0" y="0"/>
              <a:ext cx="429446" cy="418535"/>
            </a:xfrm>
            <a:custGeom>
              <a:avLst/>
              <a:gdLst/>
              <a:ahLst/>
              <a:cxnLst/>
              <a:rect r="r" b="b" t="t" l="l"/>
              <a:pathLst>
                <a:path h="418535" w="429446">
                  <a:moveTo>
                    <a:pt x="214723" y="0"/>
                  </a:moveTo>
                  <a:cubicBezTo>
                    <a:pt x="96135" y="0"/>
                    <a:pt x="0" y="93692"/>
                    <a:pt x="0" y="209268"/>
                  </a:cubicBezTo>
                  <a:cubicBezTo>
                    <a:pt x="0" y="324843"/>
                    <a:pt x="96135" y="418535"/>
                    <a:pt x="214723" y="418535"/>
                  </a:cubicBezTo>
                  <a:cubicBezTo>
                    <a:pt x="333311" y="418535"/>
                    <a:pt x="429446" y="324843"/>
                    <a:pt x="429446" y="209268"/>
                  </a:cubicBezTo>
                  <a:cubicBezTo>
                    <a:pt x="429446" y="93692"/>
                    <a:pt x="333311" y="0"/>
                    <a:pt x="214723" y="0"/>
                  </a:cubicBezTo>
                  <a:close/>
                </a:path>
              </a:pathLst>
            </a:custGeom>
            <a:blipFill>
              <a:blip r:embed="rId5"/>
              <a:stretch>
                <a:fillRect l="-6806" t="0" r="-66534"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13163" y="1168117"/>
            <a:ext cx="446137" cy="128021"/>
            <a:chOff x="0" y="0"/>
            <a:chExt cx="117501" cy="33718"/>
          </a:xfrm>
        </p:grpSpPr>
        <p:sp>
          <p:nvSpPr>
            <p:cNvPr name="Freeform 3" id="3"/>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C5C5C5"/>
            </a:solidFill>
            <a:ln cap="rnd">
              <a:noFill/>
              <a:prstDash val="solid"/>
              <a:round/>
            </a:ln>
          </p:spPr>
        </p:sp>
        <p:sp>
          <p:nvSpPr>
            <p:cNvPr name="TextBox 4" id="4"/>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98478" y="1168117"/>
            <a:ext cx="446137" cy="128021"/>
            <a:chOff x="0" y="0"/>
            <a:chExt cx="117501" cy="33718"/>
          </a:xfrm>
        </p:grpSpPr>
        <p:sp>
          <p:nvSpPr>
            <p:cNvPr name="Freeform 6" id="6"/>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7" id="7"/>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4815763" y="7044310"/>
            <a:ext cx="5287335" cy="528733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187" t="0" r="-25187" b="0"/>
              </a:stretch>
            </a:blipFill>
          </p:spPr>
        </p:sp>
      </p:grpSp>
      <p:grpSp>
        <p:nvGrpSpPr>
          <p:cNvPr name="Group 10" id="10"/>
          <p:cNvGrpSpPr/>
          <p:nvPr/>
        </p:nvGrpSpPr>
        <p:grpSpPr>
          <a:xfrm rot="0">
            <a:off x="-1682448" y="6575877"/>
            <a:ext cx="5422296" cy="542229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47700" cap="sq">
              <a:gradFill>
                <a:gsLst>
                  <a:gs pos="0">
                    <a:srgbClr val="1F64B7">
                      <a:alpha val="100000"/>
                    </a:srgbClr>
                  </a:gs>
                  <a:gs pos="100000">
                    <a:srgbClr val="6ACBC6">
                      <a:alpha val="100000"/>
                    </a:srgbClr>
                  </a:gs>
                </a:gsLst>
                <a:lin ang="270000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5400000">
            <a:off x="16491859" y="5647412"/>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5400000">
            <a:off x="303676" y="3614307"/>
            <a:ext cx="1473766" cy="385021"/>
          </a:xfrm>
          <a:custGeom>
            <a:avLst/>
            <a:gdLst/>
            <a:ahLst/>
            <a:cxnLst/>
            <a:rect r="r" b="b" t="t" l="l"/>
            <a:pathLst>
              <a:path h="385021" w="1473766">
                <a:moveTo>
                  <a:pt x="0" y="0"/>
                </a:moveTo>
                <a:lnTo>
                  <a:pt x="1473766" y="0"/>
                </a:lnTo>
                <a:lnTo>
                  <a:pt x="1473766" y="385021"/>
                </a:lnTo>
                <a:lnTo>
                  <a:pt x="0" y="385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9144000" y="2037629"/>
            <a:ext cx="9044576" cy="1032306"/>
          </a:xfrm>
          <a:prstGeom prst="rect">
            <a:avLst/>
          </a:prstGeom>
        </p:spPr>
        <p:txBody>
          <a:bodyPr anchor="t" rtlCol="false" tIns="0" lIns="0" bIns="0" rIns="0">
            <a:spAutoFit/>
          </a:bodyPr>
          <a:lstStyle/>
          <a:p>
            <a:pPr algn="l">
              <a:lnSpc>
                <a:spcPts val="7937"/>
              </a:lnSpc>
            </a:pPr>
            <a:r>
              <a:rPr lang="en-US" sz="6013">
                <a:solidFill>
                  <a:srgbClr val="000000"/>
                </a:solidFill>
                <a:latin typeface="Poppins"/>
                <a:ea typeface="Poppins"/>
                <a:cs typeface="Poppins"/>
                <a:sym typeface="Poppins"/>
              </a:rPr>
              <a:t>Concluding Insights</a:t>
            </a:r>
          </a:p>
        </p:txBody>
      </p:sp>
      <p:sp>
        <p:nvSpPr>
          <p:cNvPr name="TextBox 16" id="16"/>
          <p:cNvSpPr txBox="true"/>
          <p:nvPr/>
        </p:nvSpPr>
        <p:spPr>
          <a:xfrm rot="0">
            <a:off x="8951489" y="3398898"/>
            <a:ext cx="8084742" cy="4147186"/>
          </a:xfrm>
          <a:prstGeom prst="rect">
            <a:avLst/>
          </a:prstGeom>
        </p:spPr>
        <p:txBody>
          <a:bodyPr anchor="t" rtlCol="false" tIns="0" lIns="0" bIns="0" rIns="0">
            <a:spAutoFit/>
          </a:bodyPr>
          <a:lstStyle/>
          <a:p>
            <a:pPr algn="l" marL="518158" indent="-259079" lvl="1">
              <a:lnSpc>
                <a:spcPts val="4799"/>
              </a:lnSpc>
              <a:buFont typeface="Arial"/>
              <a:buChar char="•"/>
            </a:pPr>
            <a:r>
              <a:rPr lang="en-US" sz="2399">
                <a:solidFill>
                  <a:srgbClr val="000000"/>
                </a:solidFill>
                <a:latin typeface="1883 Sans"/>
                <a:ea typeface="1883 Sans"/>
                <a:cs typeface="1883 Sans"/>
                <a:sym typeface="1883 Sans"/>
              </a:rPr>
              <a:t>Per-wave beta calibrati</a:t>
            </a:r>
            <a:r>
              <a:rPr lang="en-US" sz="2399" strike="noStrike" u="none">
                <a:solidFill>
                  <a:srgbClr val="000000"/>
                </a:solidFill>
                <a:latin typeface="1883 Sans"/>
                <a:ea typeface="1883 Sans"/>
                <a:cs typeface="1883 Sans"/>
                <a:sym typeface="1883 Sans"/>
              </a:rPr>
              <a:t>o</a:t>
            </a:r>
            <a:r>
              <a:rPr lang="en-US" sz="2399" strike="noStrike" u="none">
                <a:solidFill>
                  <a:srgbClr val="000000"/>
                </a:solidFill>
                <a:latin typeface="1883 Sans"/>
                <a:ea typeface="1883 Sans"/>
                <a:cs typeface="1883 Sans"/>
                <a:sym typeface="1883 Sans"/>
              </a:rPr>
              <a:t>n + g</a:t>
            </a:r>
            <a:r>
              <a:rPr lang="en-US" sz="2399" strike="noStrike" u="none">
                <a:solidFill>
                  <a:srgbClr val="000000"/>
                </a:solidFill>
                <a:latin typeface="1883 Sans"/>
                <a:ea typeface="1883 Sans"/>
                <a:cs typeface="1883 Sans"/>
                <a:sym typeface="1883 Sans"/>
              </a:rPr>
              <a:t>r</a:t>
            </a:r>
            <a:r>
              <a:rPr lang="en-US" sz="2399" strike="noStrike" u="none">
                <a:solidFill>
                  <a:srgbClr val="000000"/>
                </a:solidFill>
                <a:latin typeface="1883 Sans"/>
                <a:ea typeface="1883 Sans"/>
                <a:cs typeface="1883 Sans"/>
                <a:sym typeface="1883 Sans"/>
              </a:rPr>
              <a:t>adi</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nt</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boost</a:t>
            </a:r>
            <a:r>
              <a:rPr lang="en-US" sz="2399" strike="noStrike" u="none">
                <a:solidFill>
                  <a:srgbClr val="000000"/>
                </a:solidFill>
                <a:latin typeface="1883 Sans"/>
                <a:ea typeface="1883 Sans"/>
                <a:cs typeface="1883 Sans"/>
                <a:sym typeface="1883 Sans"/>
              </a:rPr>
              <a:t>i</a:t>
            </a:r>
            <a:r>
              <a:rPr lang="en-US" sz="2399" strike="noStrike" u="none">
                <a:solidFill>
                  <a:srgbClr val="000000"/>
                </a:solidFill>
                <a:latin typeface="1883 Sans"/>
                <a:ea typeface="1883 Sans"/>
                <a:cs typeface="1883 Sans"/>
                <a:sym typeface="1883 Sans"/>
              </a:rPr>
              <a:t>ng correction o</a:t>
            </a:r>
            <a:r>
              <a:rPr lang="en-US" sz="2399" strike="noStrike" u="none">
                <a:solidFill>
                  <a:srgbClr val="000000"/>
                </a:solidFill>
                <a:latin typeface="1883 Sans"/>
                <a:ea typeface="1883 Sans"/>
                <a:cs typeface="1883 Sans"/>
                <a:sym typeface="1883 Sans"/>
              </a:rPr>
              <a:t>u</a:t>
            </a:r>
            <a:r>
              <a:rPr lang="en-US" sz="2399" strike="noStrike" u="none">
                <a:solidFill>
                  <a:srgbClr val="000000"/>
                </a:solidFill>
                <a:latin typeface="1883 Sans"/>
                <a:ea typeface="1883 Sans"/>
                <a:cs typeface="1883 Sans"/>
                <a:sym typeface="1883 Sans"/>
              </a:rPr>
              <a:t>tperfor</a:t>
            </a:r>
            <a:r>
              <a:rPr lang="en-US" sz="2399" strike="noStrike" u="none">
                <a:solidFill>
                  <a:srgbClr val="000000"/>
                </a:solidFill>
                <a:latin typeface="1883 Sans"/>
                <a:ea typeface="1883 Sans"/>
                <a:cs typeface="1883 Sans"/>
                <a:sym typeface="1883 Sans"/>
              </a:rPr>
              <a:t>m</a:t>
            </a:r>
            <a:r>
              <a:rPr lang="en-US" sz="2399" strike="noStrike" u="none">
                <a:solidFill>
                  <a:srgbClr val="000000"/>
                </a:solidFill>
                <a:latin typeface="1883 Sans"/>
                <a:ea typeface="1883 Sans"/>
                <a:cs typeface="1883 Sans"/>
                <a:sym typeface="1883 Sans"/>
              </a:rPr>
              <a:t>s</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SEIR alone</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90% CI achieves near-target h</a:t>
            </a:r>
            <a:r>
              <a:rPr lang="en-US" sz="2399" strike="noStrike" u="none">
                <a:solidFill>
                  <a:srgbClr val="000000"/>
                </a:solidFill>
                <a:latin typeface="1883 Sans"/>
                <a:ea typeface="1883 Sans"/>
                <a:cs typeface="1883 Sans"/>
                <a:sym typeface="1883 Sans"/>
              </a:rPr>
              <a:t>ol</a:t>
            </a:r>
            <a:r>
              <a:rPr lang="en-US" sz="2399" strike="noStrike" u="none">
                <a:solidFill>
                  <a:srgbClr val="000000"/>
                </a:solidFill>
                <a:latin typeface="1883 Sans"/>
                <a:ea typeface="1883 Sans"/>
                <a:cs typeface="1883 Sans"/>
                <a:sym typeface="1883 Sans"/>
              </a:rPr>
              <a:t>d</a:t>
            </a:r>
            <a:r>
              <a:rPr lang="en-US" sz="2399" strike="noStrike" u="none">
                <a:solidFill>
                  <a:srgbClr val="000000"/>
                </a:solidFill>
                <a:latin typeface="1883 Sans"/>
                <a:ea typeface="1883 Sans"/>
                <a:cs typeface="1883 Sans"/>
                <a:sym typeface="1883 Sans"/>
              </a:rPr>
              <a:t>o</a:t>
            </a:r>
            <a:r>
              <a:rPr lang="en-US" sz="2399" strike="noStrike" u="none">
                <a:solidFill>
                  <a:srgbClr val="000000"/>
                </a:solidFill>
                <a:latin typeface="1883 Sans"/>
                <a:ea typeface="1883 Sans"/>
                <a:cs typeface="1883 Sans"/>
                <a:sym typeface="1883 Sans"/>
              </a:rPr>
              <a:t>ut cove</a:t>
            </a:r>
            <a:r>
              <a:rPr lang="en-US" sz="2399" strike="noStrike" u="none">
                <a:solidFill>
                  <a:srgbClr val="000000"/>
                </a:solidFill>
                <a:latin typeface="1883 Sans"/>
                <a:ea typeface="1883 Sans"/>
                <a:cs typeface="1883 Sans"/>
                <a:sym typeface="1883 Sans"/>
              </a:rPr>
              <a:t>r</a:t>
            </a:r>
            <a:r>
              <a:rPr lang="en-US" sz="2399" strike="noStrike" u="none">
                <a:solidFill>
                  <a:srgbClr val="000000"/>
                </a:solidFill>
                <a:latin typeface="1883 Sans"/>
                <a:ea typeface="1883 Sans"/>
                <a:cs typeface="1883 Sans"/>
                <a:sym typeface="1883 Sans"/>
              </a:rPr>
              <a:t>age</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Surge</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detection provide</a:t>
            </a:r>
            <a:r>
              <a:rPr lang="en-US" sz="2399" strike="noStrike" u="none">
                <a:solidFill>
                  <a:srgbClr val="000000"/>
                </a:solidFill>
                <a:latin typeface="1883 Sans"/>
                <a:ea typeface="1883 Sans"/>
                <a:cs typeface="1883 Sans"/>
                <a:sym typeface="1883 Sans"/>
              </a:rPr>
              <a:t>s</a:t>
            </a:r>
            <a:r>
              <a:rPr lang="en-US" sz="2399" strike="noStrike" u="none">
                <a:solidFill>
                  <a:srgbClr val="000000"/>
                </a:solidFill>
                <a:latin typeface="1883 Sans"/>
                <a:ea typeface="1883 Sans"/>
                <a:cs typeface="1883 Sans"/>
                <a:sym typeface="1883 Sans"/>
              </a:rPr>
              <a:t> act</a:t>
            </a:r>
            <a:r>
              <a:rPr lang="en-US" sz="2399" strike="noStrike" u="none">
                <a:solidFill>
                  <a:srgbClr val="000000"/>
                </a:solidFill>
                <a:latin typeface="1883 Sans"/>
                <a:ea typeface="1883 Sans"/>
                <a:cs typeface="1883 Sans"/>
                <a:sym typeface="1883 Sans"/>
              </a:rPr>
              <a:t>i</a:t>
            </a:r>
            <a:r>
              <a:rPr lang="en-US" sz="2399" strike="noStrike" u="none">
                <a:solidFill>
                  <a:srgbClr val="000000"/>
                </a:solidFill>
                <a:latin typeface="1883 Sans"/>
                <a:ea typeface="1883 Sans"/>
                <a:cs typeface="1883 Sans"/>
                <a:sym typeface="1883 Sans"/>
              </a:rPr>
              <a:t>onable lead </a:t>
            </a:r>
            <a:r>
              <a:rPr lang="en-US" sz="2399" strike="noStrike" u="none">
                <a:solidFill>
                  <a:srgbClr val="000000"/>
                </a:solidFill>
                <a:latin typeface="1883 Sans"/>
                <a:ea typeface="1883 Sans"/>
                <a:cs typeface="1883 Sans"/>
                <a:sym typeface="1883 Sans"/>
              </a:rPr>
              <a:t>t</a:t>
            </a:r>
            <a:r>
              <a:rPr lang="en-US" sz="2399" strike="noStrike" u="none">
                <a:solidFill>
                  <a:srgbClr val="000000"/>
                </a:solidFill>
                <a:latin typeface="1883 Sans"/>
                <a:ea typeface="1883 Sans"/>
                <a:cs typeface="1883 Sans"/>
                <a:sym typeface="1883 Sans"/>
              </a:rPr>
              <a:t>ime</a:t>
            </a:r>
            <a:r>
              <a:rPr lang="en-US" sz="2399" strike="noStrike" u="none">
                <a:solidFill>
                  <a:srgbClr val="000000"/>
                </a:solidFill>
                <a:latin typeface="1883 Sans"/>
                <a:ea typeface="1883 Sans"/>
                <a:cs typeface="1883 Sans"/>
                <a:sym typeface="1883 Sans"/>
              </a:rPr>
              <a:t> </a:t>
            </a:r>
            <a:r>
              <a:rPr lang="en-US" sz="2399" strike="noStrike" u="none">
                <a:solidFill>
                  <a:srgbClr val="000000"/>
                </a:solidFill>
                <a:latin typeface="1883 Sans"/>
                <a:ea typeface="1883 Sans"/>
                <a:cs typeface="1883 Sans"/>
                <a:sym typeface="1883 Sans"/>
              </a:rPr>
              <a:t>estim</a:t>
            </a:r>
            <a:r>
              <a:rPr lang="en-US" sz="2399" strike="noStrike" u="none">
                <a:solidFill>
                  <a:srgbClr val="000000"/>
                </a:solidFill>
                <a:latin typeface="1883 Sans"/>
                <a:ea typeface="1883 Sans"/>
                <a:cs typeface="1883 Sans"/>
                <a:sym typeface="1883 Sans"/>
              </a:rPr>
              <a:t>a</a:t>
            </a:r>
            <a:r>
              <a:rPr lang="en-US" sz="2399" strike="noStrike" u="none">
                <a:solidFill>
                  <a:srgbClr val="000000"/>
                </a:solidFill>
                <a:latin typeface="1883 Sans"/>
                <a:ea typeface="1883 Sans"/>
                <a:cs typeface="1883 Sans"/>
                <a:sym typeface="1883 Sans"/>
              </a:rPr>
              <a:t>tes</a:t>
            </a:r>
          </a:p>
          <a:p>
            <a:pPr algn="l" marL="518158" indent="-259079" lvl="1">
              <a:lnSpc>
                <a:spcPts val="4799"/>
              </a:lnSpc>
              <a:buFont typeface="Arial"/>
              <a:buChar char="•"/>
            </a:pPr>
            <a:r>
              <a:rPr lang="en-US" sz="2399" strike="noStrike" u="none">
                <a:solidFill>
                  <a:srgbClr val="000000"/>
                </a:solidFill>
                <a:latin typeface="1883 Sans"/>
                <a:ea typeface="1883 Sans"/>
                <a:cs typeface="1883 Sans"/>
                <a:sym typeface="1883 Sans"/>
              </a:rPr>
              <a:t>Br</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ach probabili</a:t>
            </a:r>
            <a:r>
              <a:rPr lang="en-US" sz="2399" strike="noStrike" u="none">
                <a:solidFill>
                  <a:srgbClr val="000000"/>
                </a:solidFill>
                <a:latin typeface="1883 Sans"/>
                <a:ea typeface="1883 Sans"/>
                <a:cs typeface="1883 Sans"/>
                <a:sym typeface="1883 Sans"/>
              </a:rPr>
              <a:t>t</a:t>
            </a:r>
            <a:r>
              <a:rPr lang="en-US" sz="2399" strike="noStrike" u="none">
                <a:solidFill>
                  <a:srgbClr val="000000"/>
                </a:solidFill>
                <a:latin typeface="1883 Sans"/>
                <a:ea typeface="1883 Sans"/>
                <a:cs typeface="1883 Sans"/>
                <a:sym typeface="1883 Sans"/>
              </a:rPr>
              <a:t>y</a:t>
            </a:r>
            <a:r>
              <a:rPr lang="en-US" sz="2399" strike="noStrike" u="none">
                <a:solidFill>
                  <a:srgbClr val="000000"/>
                </a:solidFill>
                <a:latin typeface="1883 Sans"/>
                <a:ea typeface="1883 Sans"/>
                <a:cs typeface="1883 Sans"/>
                <a:sym typeface="1883 Sans"/>
              </a:rPr>
              <a:t> con</a:t>
            </a:r>
            <a:r>
              <a:rPr lang="en-US" sz="2399" strike="noStrike" u="none">
                <a:solidFill>
                  <a:srgbClr val="000000"/>
                </a:solidFill>
                <a:latin typeface="1883 Sans"/>
                <a:ea typeface="1883 Sans"/>
                <a:cs typeface="1883 Sans"/>
                <a:sym typeface="1883 Sans"/>
              </a:rPr>
              <a:t>vert</a:t>
            </a:r>
            <a:r>
              <a:rPr lang="en-US" sz="2399" strike="noStrike" u="none">
                <a:solidFill>
                  <a:srgbClr val="000000"/>
                </a:solidFill>
                <a:latin typeface="1883 Sans"/>
                <a:ea typeface="1883 Sans"/>
                <a:cs typeface="1883 Sans"/>
                <a:sym typeface="1883 Sans"/>
              </a:rPr>
              <a:t>s</a:t>
            </a:r>
            <a:r>
              <a:rPr lang="en-US" sz="2399" strike="noStrike" u="none">
                <a:solidFill>
                  <a:srgbClr val="000000"/>
                </a:solidFill>
                <a:latin typeface="1883 Sans"/>
                <a:ea typeface="1883 Sans"/>
                <a:cs typeface="1883 Sans"/>
                <a:sym typeface="1883 Sans"/>
              </a:rPr>
              <a:t> for</a:t>
            </a:r>
            <a:r>
              <a:rPr lang="en-US" sz="2399" strike="noStrike" u="none">
                <a:solidFill>
                  <a:srgbClr val="000000"/>
                </a:solidFill>
                <a:latin typeface="1883 Sans"/>
                <a:ea typeface="1883 Sans"/>
                <a:cs typeface="1883 Sans"/>
                <a:sym typeface="1883 Sans"/>
              </a:rPr>
              <a:t>ec</a:t>
            </a:r>
            <a:r>
              <a:rPr lang="en-US" sz="2399" strike="noStrike" u="none">
                <a:solidFill>
                  <a:srgbClr val="000000"/>
                </a:solidFill>
                <a:latin typeface="1883 Sans"/>
                <a:ea typeface="1883 Sans"/>
                <a:cs typeface="1883 Sans"/>
                <a:sym typeface="1883 Sans"/>
              </a:rPr>
              <a:t>as</a:t>
            </a:r>
            <a:r>
              <a:rPr lang="en-US" sz="2399" strike="noStrike" u="none">
                <a:solidFill>
                  <a:srgbClr val="000000"/>
                </a:solidFill>
                <a:latin typeface="1883 Sans"/>
                <a:ea typeface="1883 Sans"/>
                <a:cs typeface="1883 Sans"/>
                <a:sym typeface="1883 Sans"/>
              </a:rPr>
              <a:t>t</a:t>
            </a:r>
            <a:r>
              <a:rPr lang="en-US" sz="2399" strike="noStrike" u="none">
                <a:solidFill>
                  <a:srgbClr val="000000"/>
                </a:solidFill>
                <a:latin typeface="1883 Sans"/>
                <a:ea typeface="1883 Sans"/>
                <a:cs typeface="1883 Sans"/>
                <a:sym typeface="1883 Sans"/>
              </a:rPr>
              <a:t>s into an op</a:t>
            </a:r>
            <a:r>
              <a:rPr lang="en-US" sz="2399" strike="noStrike" u="none">
                <a:solidFill>
                  <a:srgbClr val="000000"/>
                </a:solidFill>
                <a:latin typeface="1883 Sans"/>
                <a:ea typeface="1883 Sans"/>
                <a:cs typeface="1883 Sans"/>
                <a:sym typeface="1883 Sans"/>
              </a:rPr>
              <a:t>e</a:t>
            </a:r>
            <a:r>
              <a:rPr lang="en-US" sz="2399" strike="noStrike" u="none">
                <a:solidFill>
                  <a:srgbClr val="000000"/>
                </a:solidFill>
                <a:latin typeface="1883 Sans"/>
                <a:ea typeface="1883 Sans"/>
                <a:cs typeface="1883 Sans"/>
                <a:sym typeface="1883 Sans"/>
              </a:rPr>
              <a:t>rational risk framework</a:t>
            </a:r>
          </a:p>
        </p:txBody>
      </p:sp>
      <p:grpSp>
        <p:nvGrpSpPr>
          <p:cNvPr name="Group 17" id="17"/>
          <p:cNvGrpSpPr/>
          <p:nvPr/>
        </p:nvGrpSpPr>
        <p:grpSpPr>
          <a:xfrm rot="0">
            <a:off x="848048" y="1620817"/>
            <a:ext cx="7045365" cy="704536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2732" t="0" r="-62453"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F64B7">
                <a:alpha val="100000"/>
              </a:srgbClr>
            </a:gs>
            <a:gs pos="100000">
              <a:srgbClr val="6ACBC6">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768559" y="2006101"/>
            <a:ext cx="8044604" cy="80446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22962" y="8719220"/>
            <a:ext cx="7278339" cy="727833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1F64B7">
                      <a:alpha val="100000"/>
                    </a:srgbClr>
                  </a:gs>
                  <a:gs pos="100000">
                    <a:srgbClr val="6ACBC6">
                      <a:alpha val="100000"/>
                    </a:srgbClr>
                  </a:gs>
                </a:gsLst>
                <a:lin ang="2700000"/>
              </a:gra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813163" y="1168117"/>
            <a:ext cx="446137" cy="128021"/>
            <a:chOff x="0" y="0"/>
            <a:chExt cx="117501" cy="33718"/>
          </a:xfrm>
        </p:grpSpPr>
        <p:sp>
          <p:nvSpPr>
            <p:cNvPr name="Freeform 9" id="9"/>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solidFill>
              <a:srgbClr val="FFFFFF"/>
            </a:solidFill>
            <a:ln cap="rnd">
              <a:noFill/>
              <a:prstDash val="solid"/>
              <a:round/>
            </a:ln>
          </p:spPr>
        </p:sp>
        <p:sp>
          <p:nvSpPr>
            <p:cNvPr name="TextBox 10" id="10"/>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16298478" y="1168117"/>
            <a:ext cx="446137" cy="128021"/>
            <a:chOff x="0" y="0"/>
            <a:chExt cx="117501" cy="33718"/>
          </a:xfrm>
        </p:grpSpPr>
        <p:sp>
          <p:nvSpPr>
            <p:cNvPr name="Freeform 12" id="12"/>
            <p:cNvSpPr/>
            <p:nvPr/>
          </p:nvSpPr>
          <p:spPr>
            <a:xfrm flipH="false" flipV="false" rot="0">
              <a:off x="0" y="0"/>
              <a:ext cx="117501" cy="33718"/>
            </a:xfrm>
            <a:custGeom>
              <a:avLst/>
              <a:gdLst/>
              <a:ahLst/>
              <a:cxnLst/>
              <a:rect r="r" b="b" t="t" l="l"/>
              <a:pathLst>
                <a:path h="33718" w="117501">
                  <a:moveTo>
                    <a:pt x="16859" y="0"/>
                  </a:moveTo>
                  <a:lnTo>
                    <a:pt x="100642" y="0"/>
                  </a:lnTo>
                  <a:cubicBezTo>
                    <a:pt x="105114" y="0"/>
                    <a:pt x="109402" y="1776"/>
                    <a:pt x="112563" y="4938"/>
                  </a:cubicBezTo>
                  <a:cubicBezTo>
                    <a:pt x="115725" y="8099"/>
                    <a:pt x="117501" y="12388"/>
                    <a:pt x="117501" y="16859"/>
                  </a:cubicBezTo>
                  <a:lnTo>
                    <a:pt x="117501" y="16859"/>
                  </a:lnTo>
                  <a:cubicBezTo>
                    <a:pt x="117501" y="26170"/>
                    <a:pt x="109953" y="33718"/>
                    <a:pt x="100642" y="33718"/>
                  </a:cubicBezTo>
                  <a:lnTo>
                    <a:pt x="16859" y="33718"/>
                  </a:lnTo>
                  <a:cubicBezTo>
                    <a:pt x="12388" y="33718"/>
                    <a:pt x="8099" y="31941"/>
                    <a:pt x="4938" y="28780"/>
                  </a:cubicBezTo>
                  <a:cubicBezTo>
                    <a:pt x="1776" y="25618"/>
                    <a:pt x="0" y="21330"/>
                    <a:pt x="0" y="16859"/>
                  </a:cubicBezTo>
                  <a:lnTo>
                    <a:pt x="0" y="16859"/>
                  </a:lnTo>
                  <a:cubicBezTo>
                    <a:pt x="0" y="12388"/>
                    <a:pt x="1776" y="8099"/>
                    <a:pt x="4938" y="4938"/>
                  </a:cubicBezTo>
                  <a:cubicBezTo>
                    <a:pt x="8099" y="1776"/>
                    <a:pt x="12388" y="0"/>
                    <a:pt x="16859" y="0"/>
                  </a:cubicBezTo>
                  <a:close/>
                </a:path>
              </a:pathLst>
            </a:custGeom>
            <a:gradFill rotWithShape="true">
              <a:gsLst>
                <a:gs pos="0">
                  <a:srgbClr val="1F64B7">
                    <a:alpha val="100000"/>
                  </a:srgbClr>
                </a:gs>
                <a:gs pos="100000">
                  <a:srgbClr val="6ACBC6">
                    <a:alpha val="100000"/>
                  </a:srgbClr>
                </a:gs>
              </a:gsLst>
              <a:lin ang="2700000"/>
            </a:gradFill>
            <a:ln cap="rnd">
              <a:noFill/>
              <a:prstDash val="solid"/>
              <a:round/>
            </a:ln>
          </p:spPr>
        </p:sp>
        <p:sp>
          <p:nvSpPr>
            <p:cNvPr name="TextBox 13" id="13"/>
            <p:cNvSpPr txBox="true"/>
            <p:nvPr/>
          </p:nvSpPr>
          <p:spPr>
            <a:xfrm>
              <a:off x="0" y="-38100"/>
              <a:ext cx="117501" cy="71818"/>
            </a:xfrm>
            <a:prstGeom prst="rect">
              <a:avLst/>
            </a:prstGeom>
          </p:spPr>
          <p:txBody>
            <a:bodyPr anchor="ctr" rtlCol="false" tIns="50800" lIns="50800" bIns="50800" rIns="50800"/>
            <a:lstStyle/>
            <a:p>
              <a:pPr algn="ctr">
                <a:lnSpc>
                  <a:spcPts val="2799"/>
                </a:lnSpc>
              </a:pPr>
            </a:p>
          </p:txBody>
        </p:sp>
      </p:grpSp>
      <p:grpSp>
        <p:nvGrpSpPr>
          <p:cNvPr name="Group 14" id="14"/>
          <p:cNvGrpSpPr/>
          <p:nvPr/>
        </p:nvGrpSpPr>
        <p:grpSpPr>
          <a:xfrm rot="8715680">
            <a:off x="686461" y="2357658"/>
            <a:ext cx="1795519" cy="179551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57175" cap="sq">
              <a:gradFill>
                <a:gsLst>
                  <a:gs pos="0">
                    <a:srgbClr val="1F64B7">
                      <a:alpha val="100000"/>
                    </a:srgbClr>
                  </a:gs>
                  <a:gs pos="100000">
                    <a:srgbClr val="6ACBC6">
                      <a:alpha val="100000"/>
                    </a:srgbClr>
                  </a:gs>
                </a:gsLst>
                <a:lin ang="2700000"/>
              </a:gra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5400000">
            <a:off x="15872182" y="7075517"/>
            <a:ext cx="2029528" cy="530214"/>
          </a:xfrm>
          <a:custGeom>
            <a:avLst/>
            <a:gdLst/>
            <a:ahLst/>
            <a:cxnLst/>
            <a:rect r="r" b="b" t="t" l="l"/>
            <a:pathLst>
              <a:path h="530214" w="2029528">
                <a:moveTo>
                  <a:pt x="0" y="0"/>
                </a:moveTo>
                <a:lnTo>
                  <a:pt x="2029527" y="0"/>
                </a:lnTo>
                <a:lnTo>
                  <a:pt x="2029527" y="530215"/>
                </a:lnTo>
                <a:lnTo>
                  <a:pt x="0" y="5302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5400000">
            <a:off x="8291098" y="3335168"/>
            <a:ext cx="2038081" cy="532449"/>
          </a:xfrm>
          <a:custGeom>
            <a:avLst/>
            <a:gdLst/>
            <a:ahLst/>
            <a:cxnLst/>
            <a:rect r="r" b="b" t="t" l="l"/>
            <a:pathLst>
              <a:path h="532449" w="2038081">
                <a:moveTo>
                  <a:pt x="0" y="0"/>
                </a:moveTo>
                <a:lnTo>
                  <a:pt x="2038082" y="0"/>
                </a:lnTo>
                <a:lnTo>
                  <a:pt x="2038082" y="532449"/>
                </a:lnTo>
                <a:lnTo>
                  <a:pt x="0" y="5324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5400000">
            <a:off x="47197" y="8518001"/>
            <a:ext cx="2038081" cy="532449"/>
          </a:xfrm>
          <a:custGeom>
            <a:avLst/>
            <a:gdLst/>
            <a:ahLst/>
            <a:cxnLst/>
            <a:rect r="r" b="b" t="t" l="l"/>
            <a:pathLst>
              <a:path h="532449" w="2038081">
                <a:moveTo>
                  <a:pt x="0" y="0"/>
                </a:moveTo>
                <a:lnTo>
                  <a:pt x="2038081" y="0"/>
                </a:lnTo>
                <a:lnTo>
                  <a:pt x="2038081" y="532449"/>
                </a:lnTo>
                <a:lnTo>
                  <a:pt x="0" y="5324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955972" y="3185151"/>
            <a:ext cx="12817035" cy="1653921"/>
          </a:xfrm>
          <a:prstGeom prst="rect">
            <a:avLst/>
          </a:prstGeom>
        </p:spPr>
        <p:txBody>
          <a:bodyPr anchor="t" rtlCol="false" tIns="0" lIns="0" bIns="0" rIns="0">
            <a:spAutoFit/>
          </a:bodyPr>
          <a:lstStyle/>
          <a:p>
            <a:pPr algn="l">
              <a:lnSpc>
                <a:spcPts val="12672"/>
              </a:lnSpc>
            </a:pPr>
            <a:r>
              <a:rPr lang="en-US" sz="9600" b="true">
                <a:solidFill>
                  <a:srgbClr val="FFFFFF"/>
                </a:solidFill>
                <a:latin typeface="Poppins Bold"/>
                <a:ea typeface="Poppins Bold"/>
                <a:cs typeface="Poppins Bold"/>
                <a:sym typeface="Poppins Bold"/>
              </a:rPr>
              <a:t>Thank You</a:t>
            </a:r>
          </a:p>
        </p:txBody>
      </p:sp>
      <p:sp>
        <p:nvSpPr>
          <p:cNvPr name="TextBox 21" id="21"/>
          <p:cNvSpPr txBox="true"/>
          <p:nvPr/>
        </p:nvSpPr>
        <p:spPr>
          <a:xfrm rot="0">
            <a:off x="9139238" y="4971097"/>
            <a:ext cx="9525" cy="306705"/>
          </a:xfrm>
          <a:prstGeom prst="rect">
            <a:avLst/>
          </a:prstGeom>
        </p:spPr>
        <p:txBody>
          <a:bodyPr anchor="t" rtlCol="false" tIns="0" lIns="0" bIns="0" rIns="0">
            <a:spAutoFit/>
          </a:bodyPr>
          <a:lstStyle/>
          <a:p>
            <a:pPr algn="ctr">
              <a:lnSpc>
                <a:spcPts val="2520"/>
              </a:lnSpc>
            </a:pPr>
          </a:p>
        </p:txBody>
      </p:sp>
      <p:sp>
        <p:nvSpPr>
          <p:cNvPr name="TextBox 22" id="22"/>
          <p:cNvSpPr txBox="true"/>
          <p:nvPr/>
        </p:nvSpPr>
        <p:spPr>
          <a:xfrm rot="0">
            <a:off x="9139238" y="5211128"/>
            <a:ext cx="9525" cy="547370"/>
          </a:xfrm>
          <a:prstGeom prst="rect">
            <a:avLst/>
          </a:prstGeom>
        </p:spPr>
        <p:txBody>
          <a:bodyPr anchor="t" rtlCol="false" tIns="0" lIns="0" bIns="0" rIns="0">
            <a:spAutoFit/>
          </a:bodyPr>
          <a:lstStyle/>
          <a:p>
            <a:pPr algn="ctr">
              <a:lnSpc>
                <a:spcPts val="4480"/>
              </a:lnSpc>
            </a:pPr>
          </a:p>
        </p:txBody>
      </p:sp>
      <p:sp>
        <p:nvSpPr>
          <p:cNvPr name="TextBox 23" id="23"/>
          <p:cNvSpPr txBox="true"/>
          <p:nvPr/>
        </p:nvSpPr>
        <p:spPr>
          <a:xfrm rot="0">
            <a:off x="2035274" y="4824120"/>
            <a:ext cx="5990336" cy="2272030"/>
          </a:xfrm>
          <a:prstGeom prst="rect">
            <a:avLst/>
          </a:prstGeom>
        </p:spPr>
        <p:txBody>
          <a:bodyPr anchor="t" rtlCol="false" tIns="0" lIns="0" bIns="0" rIns="0">
            <a:spAutoFit/>
          </a:bodyPr>
          <a:lstStyle/>
          <a:p>
            <a:pPr algn="l">
              <a:lnSpc>
                <a:spcPts val="6020"/>
              </a:lnSpc>
            </a:pPr>
            <a:r>
              <a:rPr lang="en-US" sz="4300" b="true">
                <a:solidFill>
                  <a:srgbClr val="FFFFFF"/>
                </a:solidFill>
                <a:latin typeface="1883 Sans Bold"/>
                <a:ea typeface="1883 Sans Bold"/>
                <a:cs typeface="1883 Sans Bold"/>
                <a:sym typeface="1883 Sans Bold"/>
              </a:rPr>
              <a:t>COVID-19 Hospitalization Surge Forecasting</a:t>
            </a:r>
          </a:p>
        </p:txBody>
      </p:sp>
      <p:grpSp>
        <p:nvGrpSpPr>
          <p:cNvPr name="Group 24" id="24"/>
          <p:cNvGrpSpPr/>
          <p:nvPr/>
        </p:nvGrpSpPr>
        <p:grpSpPr>
          <a:xfrm rot="0">
            <a:off x="9702400" y="3018411"/>
            <a:ext cx="6176922" cy="6019985"/>
            <a:chOff x="0" y="0"/>
            <a:chExt cx="429446" cy="418535"/>
          </a:xfrm>
        </p:grpSpPr>
        <p:sp>
          <p:nvSpPr>
            <p:cNvPr name="Freeform 25" id="25"/>
            <p:cNvSpPr/>
            <p:nvPr/>
          </p:nvSpPr>
          <p:spPr>
            <a:xfrm flipH="false" flipV="false" rot="0">
              <a:off x="0" y="0"/>
              <a:ext cx="429446" cy="418535"/>
            </a:xfrm>
            <a:custGeom>
              <a:avLst/>
              <a:gdLst/>
              <a:ahLst/>
              <a:cxnLst/>
              <a:rect r="r" b="b" t="t" l="l"/>
              <a:pathLst>
                <a:path h="418535" w="429446">
                  <a:moveTo>
                    <a:pt x="214723" y="0"/>
                  </a:moveTo>
                  <a:cubicBezTo>
                    <a:pt x="96135" y="0"/>
                    <a:pt x="0" y="93692"/>
                    <a:pt x="0" y="209268"/>
                  </a:cubicBezTo>
                  <a:cubicBezTo>
                    <a:pt x="0" y="324843"/>
                    <a:pt x="96135" y="418535"/>
                    <a:pt x="214723" y="418535"/>
                  </a:cubicBezTo>
                  <a:cubicBezTo>
                    <a:pt x="333311" y="418535"/>
                    <a:pt x="429446" y="324843"/>
                    <a:pt x="429446" y="209268"/>
                  </a:cubicBezTo>
                  <a:cubicBezTo>
                    <a:pt x="429446" y="93692"/>
                    <a:pt x="333311" y="0"/>
                    <a:pt x="214723" y="0"/>
                  </a:cubicBezTo>
                  <a:close/>
                </a:path>
              </a:pathLst>
            </a:custGeom>
            <a:blipFill>
              <a:blip r:embed="rId5"/>
              <a:stretch>
                <a:fillRect l="-36581" t="0" r="-36581"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DAHIhpQRd_4</dc:identifier>
  <dcterms:modified xsi:type="dcterms:W3CDTF">2011-08-01T06:04:30Z</dcterms:modified>
  <cp:revision>1</cp:revision>
  <dc:title>covid surge presentation</dc:title>
</cp:coreProperties>
</file>